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HQbMBT5UPx5OpZ7lpjurJhvHp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372" y="8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371600" y="2194560"/>
            <a:ext cx="2286000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371600" y="109728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🛡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371600" y="246888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SENTINAL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371600" y="3474725"/>
            <a:ext cx="6400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Unified Clinical AI for Neuro-Critical Care Risk Prediction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371600" y="42976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Privacy-First  •  Edge AI  •  Zero Cloud Data Transfer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7772400" y="1371600"/>
            <a:ext cx="3474720" cy="1097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7772400" y="1371600"/>
            <a:ext cx="3474720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8001000" y="15544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VITAL SIGNS AUROC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8001000" y="182880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0.996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7772400" y="2743200"/>
            <a:ext cx="3474720" cy="1097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7772400" y="2743200"/>
            <a:ext cx="3474720" cy="50800"/>
          </a:xfrm>
          <a:prstGeom prst="rect">
            <a:avLst/>
          </a:prstGeom>
          <a:solidFill>
            <a:srgbClr val="F43F5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8001000" y="29260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WOUND GRADING F1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8001000" y="320040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0.970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7772400" y="4114800"/>
            <a:ext cx="3474720" cy="1097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7772400" y="4114800"/>
            <a:ext cx="347472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8001000" y="42976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STROKE DETECTION AUROC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8001000" y="457200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0.982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1371600" y="57607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Hackathon Presentation  |  April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/>
        </p:nvSpPr>
        <p:spPr>
          <a:xfrm>
            <a:off x="731520" y="3657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937325" y="742314"/>
            <a:ext cx="102870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Patient Deterioration Goes Undetected Until It's Too Late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731520" y="1737360"/>
            <a:ext cx="2560200" cy="2011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731520" y="1737360"/>
            <a:ext cx="2560200" cy="5070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960120" y="201168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250K+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960120" y="269748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Preventable in-hospital</a:t>
            </a:r>
            <a:b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deaths annually (US)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3566160" y="1737360"/>
            <a:ext cx="2560200" cy="2011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3566160" y="1737360"/>
            <a:ext cx="2560200" cy="507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3794760" y="201168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6-8 hrs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3794760" y="269748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Average delay in detecting</a:t>
            </a:r>
            <a:b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clinical deterioration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6400800" y="1737360"/>
            <a:ext cx="2560200" cy="2011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6400800" y="1737360"/>
            <a:ext cx="2560320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6629400" y="201168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6629400" y="269748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Of deterioration events show</a:t>
            </a:r>
            <a:b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warning signs 6-24 hrs before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9235440" y="1737360"/>
            <a:ext cx="2560320" cy="2011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9235440" y="1737360"/>
            <a:ext cx="2560200" cy="50700"/>
          </a:xfrm>
          <a:prstGeom prst="rect">
            <a:avLst/>
          </a:prstGeom>
          <a:solidFill>
            <a:srgbClr val="F43F5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9464040" y="2011680"/>
            <a:ext cx="2103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60M+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9464040" y="269748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Diabetic patients at risk</a:t>
            </a:r>
            <a:b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of foot complications (India)</a:t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731520" y="4206240"/>
            <a:ext cx="10698600" cy="21945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1097280" y="44348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1097275" y="4754875"/>
            <a:ext cx="4800600" cy="15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•  ICU nurses monitor 3-6 patients simultaneously — alert fatigue is real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•  Rural India: 1 specialist per 10,000+ patients — AI can bridge the gap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•  Stroke: every minute of delay = 1.9M neurons lost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•  Diabetic foot: 85% of amputations preceded by treatable ulcers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6400800" y="44348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CURRENT GAPS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6400800" y="4754880"/>
            <a:ext cx="484632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•  No unified platform covers vitals + imaging + wound care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•  Cloud-based solutions raise HIPAA / DISHA compliance risks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•  Existing tools require expensive GPUs and internet connectivity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•  Specialist recommendations are siloed from diagnostic AI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"/>
          <p:cNvSpPr txBox="1"/>
          <p:nvPr/>
        </p:nvSpPr>
        <p:spPr>
          <a:xfrm>
            <a:off x="731520" y="3657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731520" y="640080"/>
            <a:ext cx="10058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One Platform. Three AI Modules. Zero Cloud Dependency.</a:t>
            </a:r>
            <a:endParaRPr sz="1000"/>
          </a:p>
        </p:txBody>
      </p:sp>
      <p:sp>
        <p:nvSpPr>
          <p:cNvPr id="135" name="Google Shape;135;p3"/>
          <p:cNvSpPr/>
          <p:nvPr/>
        </p:nvSpPr>
        <p:spPr>
          <a:xfrm>
            <a:off x="731520" y="1645920"/>
            <a:ext cx="3383400" cy="4114800"/>
          </a:xfrm>
          <a:prstGeom prst="roundRect">
            <a:avLst>
              <a:gd name="adj" fmla="val 5000"/>
            </a:avLst>
          </a:prstGeom>
          <a:solidFill>
            <a:srgbClr val="E0F2F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731520" y="1645920"/>
            <a:ext cx="3383280" cy="635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1005840" y="1874519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🔬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1005840" y="237744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Vital Signs Monitor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1005840" y="278892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PS2 — Temporal Transformer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1005840" y="3200400"/>
            <a:ext cx="283464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✓  12-hr sliding window analysis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✓  34 engineered clinical features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✓  Real-time deterioration alerts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✓  AUROC: 0.996 | Sensitivity: 88.9%</a:t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4389120" y="164592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FFE4E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4389120" y="1645920"/>
            <a:ext cx="3383280" cy="63500"/>
          </a:xfrm>
          <a:prstGeom prst="rect">
            <a:avLst/>
          </a:prstGeom>
          <a:solidFill>
            <a:srgbClr val="F43F5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4663440" y="1874519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🦶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4663440" y="2377440"/>
            <a:ext cx="2834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Diabetic Foot Wound Grader</a:t>
            </a:r>
            <a:endParaRPr sz="1300"/>
          </a:p>
        </p:txBody>
      </p:sp>
      <p:sp>
        <p:nvSpPr>
          <p:cNvPr id="145" name="Google Shape;145;p3"/>
          <p:cNvSpPr txBox="1"/>
          <p:nvPr/>
        </p:nvSpPr>
        <p:spPr>
          <a:xfrm>
            <a:off x="4663440" y="278892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PS1 — EfficientNet-B0 + CLIP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4663440" y="3200400"/>
            <a:ext cx="283464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✓  4-class Wagner grade classification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✓  CLIP-based image validation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✓  Instant severity assessment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✓  Accuracy: 97.05% | F1: 0.970</a:t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8046720" y="164592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E0E7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8046720" y="1645920"/>
            <a:ext cx="3383280" cy="6350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 txBox="1"/>
          <p:nvPr/>
        </p:nvSpPr>
        <p:spPr>
          <a:xfrm>
            <a:off x="8321040" y="1874519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8321040" y="237744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CT Stroke Detector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8321040" y="278892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PS5 — EfficientNet-B0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8321040" y="3200400"/>
            <a:ext cx="283464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✓  Hemorrhagic stroke detection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✓  Binary CT scan classification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✓  Emergency alert system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✓  AUROC: 0.982 | Accuracy: 92.2%</a:t>
            </a:r>
            <a:endParaRPr/>
          </a:p>
        </p:txBody>
      </p:sp>
      <p:sp>
        <p:nvSpPr>
          <p:cNvPr id="153" name="Google Shape;153;p3"/>
          <p:cNvSpPr/>
          <p:nvPr/>
        </p:nvSpPr>
        <p:spPr>
          <a:xfrm>
            <a:off x="731520" y="6035040"/>
            <a:ext cx="10698480" cy="54864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1097280" y="60807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🩺  + Specialist Recommender  |  📍 Nearby Hospital Finder  |  💬 Local LLM Clinical Explanations (Ollama)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Edge-First Architecture with Local Model Inference</a:t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731520" y="1371600"/>
            <a:ext cx="2377440" cy="411480"/>
          </a:xfrm>
          <a:prstGeom prst="roundRect">
            <a:avLst>
              <a:gd name="adj" fmla="val 15000"/>
            </a:avLst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777240" y="14173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 LAYER</a:t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3474720" y="1371600"/>
            <a:ext cx="265176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3611880" y="150876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CSV Vitals Upload (48-72 hrs)</a:t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6400800" y="1371600"/>
            <a:ext cx="265176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6537960" y="150876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Foot Wound Photograph</a:t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9326880" y="1371600"/>
            <a:ext cx="265176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9464040" y="150876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Brain CT Scan Image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1554480" y="214884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731520" y="2560320"/>
            <a:ext cx="2377440" cy="41148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777240" y="26060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3474720" y="2560320"/>
            <a:ext cx="265176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3611880" y="269748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34-Feature Engineering (qSOFA, MAP, SI...)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6400800" y="2560320"/>
            <a:ext cx="265176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6537960" y="269748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CLIP Image Validation (Zero-Shot)</a:t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9326880" y="2560320"/>
            <a:ext cx="265176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9464040" y="269748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ImageNet Normalization (224×224)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1554480" y="33375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731520" y="3749039"/>
            <a:ext cx="2377440" cy="41148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777240" y="3794759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INFERENCE</a:t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3474720" y="3749039"/>
            <a:ext cx="265176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 txBox="1"/>
          <p:nvPr/>
        </p:nvSpPr>
        <p:spPr>
          <a:xfrm>
            <a:off x="3611880" y="3886199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Temporal Transformer (8-head attention)</a:t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6400800" y="3749039"/>
            <a:ext cx="265176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6537960" y="3886199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EfficientNet-B0 (Transfer Learning)</a:t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9326880" y="3749039"/>
            <a:ext cx="265176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9464040" y="3886199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EfficientNet-B0 (Binary Classifier)</a:t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1554480" y="4526279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731520" y="4937760"/>
            <a:ext cx="2377440" cy="41148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777240" y="49834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 LAYER</a:t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3474720" y="4937760"/>
            <a:ext cx="265176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3611880" y="507492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Risk Score + Alert Level</a:t>
            </a: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6400800" y="4937760"/>
            <a:ext cx="265176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6537960" y="507492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Wagner Grade + Confidence</a:t>
            </a: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9326880" y="4937760"/>
            <a:ext cx="265176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9464040" y="507492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Stroke Probability + Emergency Flag</a:t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731520" y="5989320"/>
            <a:ext cx="10698480" cy="594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 txBox="1"/>
          <p:nvPr/>
        </p:nvSpPr>
        <p:spPr>
          <a:xfrm>
            <a:off x="1097280" y="603504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SUPPORT:  Ollama LLM (Local)  →  Clinical Explanations   |   OpenStreetMap API  →  Hospital Finder   |   Specialist Recommender  →  Referral Guidance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MODULE DEEP DIVE</a:t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PS2: Vital Signs Deterioration Predictor</a:t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731520" y="1463040"/>
            <a:ext cx="5303520" cy="5029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TEMPORAL TRANSFORMER ARCHITECTURE</a:t>
            </a:r>
            <a:endParaRPr/>
          </a:p>
        </p:txBody>
      </p:sp>
      <p:sp>
        <p:nvSpPr>
          <p:cNvPr id="206" name="Google Shape;206;p5"/>
          <p:cNvSpPr txBox="1"/>
          <p:nvPr/>
        </p:nvSpPr>
        <p:spPr>
          <a:xfrm>
            <a:off x="1005840" y="2011680"/>
            <a:ext cx="484632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→  Input: 12-hour sliding windows × 34 clinical features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→  Input Projection: 34 → 128 dimensions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→  Positional Embeddings: 72 max temporal positions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→  Transformer Encoder: 3 layers, 8 attention heads, 256 FFN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→  Attention Pooling for temporal aggregation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→  Static Encoder: Age, Gender → 32 dims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→  Classifier: MLP (160 → 128 → 1) + Sigmoid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→  Loss: Focal Loss (α=0.75, γ=2.0) for class imbalance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→  Optimizer: AdamW (lr=3e-4) + Cosine Annealing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→  Total Parameters: 434,146</a:t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1005840" y="48463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WHY TRANSFORMER OVER LSTM?</a:t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1005840" y="5166360"/>
            <a:ext cx="4846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•  Direct attention between any 2 hours (no information dilution)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•  Parallel computation → faster GPU utilization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•  Attention weights are interpretable (explainability)</a:t>
            </a: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6400800" y="1463040"/>
            <a:ext cx="2286000" cy="1051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6400800" y="1463040"/>
            <a:ext cx="2286000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6629400" y="16459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AUROC</a:t>
            </a:r>
            <a:endParaRPr/>
          </a:p>
        </p:txBody>
      </p:sp>
      <p:sp>
        <p:nvSpPr>
          <p:cNvPr id="212" name="Google Shape;212;p5"/>
          <p:cNvSpPr txBox="1"/>
          <p:nvPr/>
        </p:nvSpPr>
        <p:spPr>
          <a:xfrm>
            <a:off x="6629400" y="192024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0.996</a:t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8961120" y="1463040"/>
            <a:ext cx="2286000" cy="1051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8961120" y="1463040"/>
            <a:ext cx="2286000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9189720" y="16459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THRESHOLD</a:t>
            </a:r>
            <a:endParaRPr/>
          </a:p>
        </p:txBody>
      </p:sp>
      <p:sp>
        <p:nvSpPr>
          <p:cNvPr id="216" name="Google Shape;216;p5"/>
          <p:cNvSpPr txBox="1"/>
          <p:nvPr/>
        </p:nvSpPr>
        <p:spPr>
          <a:xfrm>
            <a:off x="9189720" y="192024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0.841</a:t>
            </a: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6400800" y="2697480"/>
            <a:ext cx="2286000" cy="1051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6400800" y="2697480"/>
            <a:ext cx="2286000" cy="5080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 txBox="1"/>
          <p:nvPr/>
        </p:nvSpPr>
        <p:spPr>
          <a:xfrm>
            <a:off x="6629400" y="28803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SENSITIVITY</a:t>
            </a:r>
            <a:endParaRPr/>
          </a:p>
        </p:txBody>
      </p:sp>
      <p:sp>
        <p:nvSpPr>
          <p:cNvPr id="220" name="Google Shape;220;p5"/>
          <p:cNvSpPr txBox="1"/>
          <p:nvPr/>
        </p:nvSpPr>
        <p:spPr>
          <a:xfrm>
            <a:off x="6629400" y="31546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88.9%</a:t>
            </a: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8961120" y="2697480"/>
            <a:ext cx="2286000" cy="1051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8961120" y="2697480"/>
            <a:ext cx="2286000" cy="5080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9189720" y="28803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SPECIFICITY</a:t>
            </a:r>
            <a:endParaRPr/>
          </a:p>
        </p:txBody>
      </p:sp>
      <p:sp>
        <p:nvSpPr>
          <p:cNvPr id="224" name="Google Shape;224;p5"/>
          <p:cNvSpPr txBox="1"/>
          <p:nvPr/>
        </p:nvSpPr>
        <p:spPr>
          <a:xfrm>
            <a:off x="9189720" y="31546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6400800" y="3931920"/>
            <a:ext cx="2286000" cy="1051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6400800" y="3931920"/>
            <a:ext cx="228600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 txBox="1"/>
          <p:nvPr/>
        </p:nvSpPr>
        <p:spPr>
          <a:xfrm>
            <a:off x="6629400" y="4114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TRAINING DATA</a:t>
            </a:r>
            <a:endParaRPr/>
          </a:p>
        </p:txBody>
      </p:sp>
      <p:sp>
        <p:nvSpPr>
          <p:cNvPr id="228" name="Google Shape;228;p5"/>
          <p:cNvSpPr txBox="1"/>
          <p:nvPr/>
        </p:nvSpPr>
        <p:spPr>
          <a:xfrm>
            <a:off x="6629400" y="4389120"/>
            <a:ext cx="2057400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293K rows</a:t>
            </a:r>
            <a:endParaRPr dirty="0"/>
          </a:p>
        </p:txBody>
      </p:sp>
      <p:sp>
        <p:nvSpPr>
          <p:cNvPr id="229" name="Google Shape;229;p5"/>
          <p:cNvSpPr/>
          <p:nvPr/>
        </p:nvSpPr>
        <p:spPr>
          <a:xfrm>
            <a:off x="8961120" y="3931920"/>
            <a:ext cx="2286000" cy="1051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8961120" y="3931920"/>
            <a:ext cx="228600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 txBox="1"/>
          <p:nvPr/>
        </p:nvSpPr>
        <p:spPr>
          <a:xfrm>
            <a:off x="9189720" y="4114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WINDOWS</a:t>
            </a:r>
            <a:endParaRPr/>
          </a:p>
        </p:txBody>
      </p:sp>
      <p:sp>
        <p:nvSpPr>
          <p:cNvPr id="232" name="Google Shape;232;p5"/>
          <p:cNvSpPr txBox="1"/>
          <p:nvPr/>
        </p:nvSpPr>
        <p:spPr>
          <a:xfrm>
            <a:off x="9189720" y="43891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216K</a:t>
            </a:r>
            <a:endParaRPr/>
          </a:p>
        </p:txBody>
      </p:sp>
      <p:sp>
        <p:nvSpPr>
          <p:cNvPr id="233" name="Google Shape;233;p5"/>
          <p:cNvSpPr/>
          <p:nvPr/>
        </p:nvSpPr>
        <p:spPr>
          <a:xfrm>
            <a:off x="6400800" y="5166360"/>
            <a:ext cx="2286000" cy="1051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6400800" y="5166360"/>
            <a:ext cx="228600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 txBox="1"/>
          <p:nvPr/>
        </p:nvSpPr>
        <p:spPr>
          <a:xfrm>
            <a:off x="6629400" y="53492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PATIENTS</a:t>
            </a:r>
            <a:endParaRPr/>
          </a:p>
        </p:txBody>
      </p:sp>
      <p:sp>
        <p:nvSpPr>
          <p:cNvPr id="236" name="Google Shape;236;p5"/>
          <p:cNvSpPr txBox="1"/>
          <p:nvPr/>
        </p:nvSpPr>
        <p:spPr>
          <a:xfrm>
            <a:off x="6629400" y="562356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7,000</a:t>
            </a: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8961120" y="5166360"/>
            <a:ext cx="2286000" cy="1051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8961120" y="5166360"/>
            <a:ext cx="228600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 txBox="1"/>
          <p:nvPr/>
        </p:nvSpPr>
        <p:spPr>
          <a:xfrm>
            <a:off x="9189720" y="53492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IMBALANCE</a:t>
            </a:r>
            <a:endParaRPr/>
          </a:p>
        </p:txBody>
      </p:sp>
      <p:sp>
        <p:nvSpPr>
          <p:cNvPr id="240" name="Google Shape;240;p5"/>
          <p:cNvSpPr txBox="1"/>
          <p:nvPr/>
        </p:nvSpPr>
        <p:spPr>
          <a:xfrm>
            <a:off x="9189720" y="562356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5.4%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MODULE DEEP DIVE</a:t>
            </a:r>
            <a:endParaRPr/>
          </a:p>
        </p:txBody>
      </p:sp>
      <p:sp>
        <p:nvSpPr>
          <p:cNvPr id="246" name="Google Shape;246;p6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PS1: Wound Grading  &amp;  PS5: Stroke Detection</a:t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731520" y="1463040"/>
            <a:ext cx="5303520" cy="4937760"/>
          </a:xfrm>
          <a:prstGeom prst="roundRect">
            <a:avLst>
              <a:gd name="adj" fmla="val 4000"/>
            </a:avLst>
          </a:prstGeom>
          <a:solidFill>
            <a:srgbClr val="FFF1F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731520" y="1463040"/>
            <a:ext cx="5303520" cy="63500"/>
          </a:xfrm>
          <a:prstGeom prst="rect">
            <a:avLst/>
          </a:prstGeom>
          <a:solidFill>
            <a:srgbClr val="F43F5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 txBox="1"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🦶  PS1: DIABETIC FOOT WOUND GRADER</a:t>
            </a:r>
            <a:endParaRPr/>
          </a:p>
        </p:txBody>
      </p:sp>
      <p:sp>
        <p:nvSpPr>
          <p:cNvPr id="250" name="Google Shape;250;p6"/>
          <p:cNvSpPr txBox="1"/>
          <p:nvPr/>
        </p:nvSpPr>
        <p:spPr>
          <a:xfrm>
            <a:off x="1005840" y="2148840"/>
            <a:ext cx="484632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→  Model: EfficientNet-B0 (ImageNet pretrained, fine-tuned)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→  Input: 224×224 RGB foot wound photographs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→  CLIP Zero-Shot validation (8-class filter, 25% threshold)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→  4-Class Wagner Grade: Grade 1 → Grade 4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→  Custom head: 1280 → 256 → 4 with Dropout (0.3, 0.15)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→  Training: 9,934 images, 27 epochs, weighted cross-entropy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→  Grade 3 augmentation to fix severe class imbalance (40→800+)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→  Accuracy: 97.05%  |  F1 Macro: 0.970</a:t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1005840" y="5029200"/>
            <a:ext cx="1097280" cy="1097280"/>
          </a:xfrm>
          <a:prstGeom prst="roundRect">
            <a:avLst>
              <a:gd name="adj" fmla="val 6000"/>
            </a:avLst>
          </a:prstGeom>
          <a:solidFill>
            <a:srgbClr val="22C55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 txBox="1"/>
          <p:nvPr/>
        </p:nvSpPr>
        <p:spPr>
          <a:xfrm>
            <a:off x="1097280" y="512064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Grade 1</a:t>
            </a:r>
            <a:endParaRPr/>
          </a:p>
        </p:txBody>
      </p:sp>
      <p:sp>
        <p:nvSpPr>
          <p:cNvPr id="253" name="Google Shape;253;p6"/>
          <p:cNvSpPr txBox="1"/>
          <p:nvPr/>
        </p:nvSpPr>
        <p:spPr>
          <a:xfrm>
            <a:off x="1097280" y="544068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Superficial</a:t>
            </a:r>
            <a:endParaRPr/>
          </a:p>
        </p:txBody>
      </p:sp>
      <p:sp>
        <p:nvSpPr>
          <p:cNvPr id="254" name="Google Shape;254;p6"/>
          <p:cNvSpPr/>
          <p:nvPr/>
        </p:nvSpPr>
        <p:spPr>
          <a:xfrm>
            <a:off x="2240280" y="5029200"/>
            <a:ext cx="1097280" cy="109728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2331720" y="512064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Grade 2</a:t>
            </a:r>
            <a:endParaRPr/>
          </a:p>
        </p:txBody>
      </p:sp>
      <p:sp>
        <p:nvSpPr>
          <p:cNvPr id="256" name="Google Shape;256;p6"/>
          <p:cNvSpPr txBox="1"/>
          <p:nvPr/>
        </p:nvSpPr>
        <p:spPr>
          <a:xfrm>
            <a:off x="2331720" y="544068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 ulcer</a:t>
            </a: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3474720" y="5029200"/>
            <a:ext cx="1097280" cy="1097280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 txBox="1"/>
          <p:nvPr/>
        </p:nvSpPr>
        <p:spPr>
          <a:xfrm>
            <a:off x="3566160" y="512064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Grade 3</a:t>
            </a:r>
            <a:endParaRPr/>
          </a:p>
        </p:txBody>
      </p:sp>
      <p:sp>
        <p:nvSpPr>
          <p:cNvPr id="259" name="Google Shape;259;p6"/>
          <p:cNvSpPr txBox="1"/>
          <p:nvPr/>
        </p:nvSpPr>
        <p:spPr>
          <a:xfrm>
            <a:off x="3566160" y="544068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Abscess/</a:t>
            </a:r>
            <a:b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Osteomyelitis</a:t>
            </a:r>
            <a:endParaRPr/>
          </a:p>
        </p:txBody>
      </p:sp>
      <p:sp>
        <p:nvSpPr>
          <p:cNvPr id="260" name="Google Shape;260;p6"/>
          <p:cNvSpPr/>
          <p:nvPr/>
        </p:nvSpPr>
        <p:spPr>
          <a:xfrm>
            <a:off x="4709160" y="5029200"/>
            <a:ext cx="1097280" cy="109728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 txBox="1"/>
          <p:nvPr/>
        </p:nvSpPr>
        <p:spPr>
          <a:xfrm>
            <a:off x="4800600" y="512064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Grade 4</a:t>
            </a:r>
            <a:endParaRPr/>
          </a:p>
        </p:txBody>
      </p:sp>
      <p:sp>
        <p:nvSpPr>
          <p:cNvPr id="262" name="Google Shape;262;p6"/>
          <p:cNvSpPr txBox="1"/>
          <p:nvPr/>
        </p:nvSpPr>
        <p:spPr>
          <a:xfrm>
            <a:off x="4800600" y="544068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Gangrene</a:t>
            </a:r>
            <a:endParaRPr/>
          </a:p>
        </p:txBody>
      </p:sp>
      <p:sp>
        <p:nvSpPr>
          <p:cNvPr id="263" name="Google Shape;263;p6"/>
          <p:cNvSpPr/>
          <p:nvPr/>
        </p:nvSpPr>
        <p:spPr>
          <a:xfrm>
            <a:off x="6400800" y="1463040"/>
            <a:ext cx="5029200" cy="493776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6400800" y="1463040"/>
            <a:ext cx="5029200" cy="6350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🧠  PS5: CT STROKE DETECTOR</a:t>
            </a:r>
            <a:endParaRPr/>
          </a:p>
        </p:txBody>
      </p:sp>
      <p:sp>
        <p:nvSpPr>
          <p:cNvPr id="266" name="Google Shape;266;p6"/>
          <p:cNvSpPr txBox="1"/>
          <p:nvPr/>
        </p:nvSpPr>
        <p:spPr>
          <a:xfrm>
            <a:off x="6675125" y="2148848"/>
            <a:ext cx="4572000" cy="17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→  Model: EfficientNet-B0 (ImageNet pretrained, fine-tuned)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→  Input: 224×224 brain CT scan images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→  Binary Classification: Normal vs. Hemorrhagic Stroke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→  Custom head: 1280 → 256 → 2 with Dropout (0.4)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→  Training: 2,501 CT scans, 25 epochs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→  Cosine annealing learning rate scheduler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→  Emergency alert for positive detection</a:t>
            </a:r>
            <a:endParaRPr/>
          </a:p>
        </p:txBody>
      </p:sp>
      <p:sp>
        <p:nvSpPr>
          <p:cNvPr id="267" name="Google Shape;267;p6"/>
          <p:cNvSpPr/>
          <p:nvPr/>
        </p:nvSpPr>
        <p:spPr>
          <a:xfrm>
            <a:off x="6675120" y="4572000"/>
            <a:ext cx="21030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6675120" y="4572000"/>
            <a:ext cx="2103000" cy="5070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 txBox="1"/>
          <p:nvPr/>
        </p:nvSpPr>
        <p:spPr>
          <a:xfrm>
            <a:off x="6903720" y="4754880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AUROC</a:t>
            </a:r>
            <a:endParaRPr/>
          </a:p>
        </p:txBody>
      </p:sp>
      <p:sp>
        <p:nvSpPr>
          <p:cNvPr id="270" name="Google Shape;270;p6"/>
          <p:cNvSpPr txBox="1"/>
          <p:nvPr/>
        </p:nvSpPr>
        <p:spPr>
          <a:xfrm>
            <a:off x="6903720" y="50292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0.982</a:t>
            </a:r>
            <a:endParaRPr/>
          </a:p>
        </p:txBody>
      </p:sp>
      <p:sp>
        <p:nvSpPr>
          <p:cNvPr id="271" name="Google Shape;271;p6"/>
          <p:cNvSpPr/>
          <p:nvPr/>
        </p:nvSpPr>
        <p:spPr>
          <a:xfrm>
            <a:off x="9052560" y="4572000"/>
            <a:ext cx="21030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9052560" y="4572000"/>
            <a:ext cx="2103000" cy="507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 txBox="1"/>
          <p:nvPr/>
        </p:nvSpPr>
        <p:spPr>
          <a:xfrm>
            <a:off x="9281160" y="475488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/>
          </a:p>
        </p:txBody>
      </p:sp>
      <p:sp>
        <p:nvSpPr>
          <p:cNvPr id="274" name="Google Shape;274;p6"/>
          <p:cNvSpPr txBox="1"/>
          <p:nvPr/>
        </p:nvSpPr>
        <p:spPr>
          <a:xfrm>
            <a:off x="9281160" y="50292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92.2%</a:t>
            </a:r>
            <a:endParaRPr/>
          </a:p>
        </p:txBody>
      </p:sp>
      <p:sp>
        <p:nvSpPr>
          <p:cNvPr id="275" name="Google Shape;275;p6"/>
          <p:cNvSpPr/>
          <p:nvPr/>
        </p:nvSpPr>
        <p:spPr>
          <a:xfrm>
            <a:off x="6675120" y="5623560"/>
            <a:ext cx="21030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6675120" y="5623560"/>
            <a:ext cx="2103000" cy="507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 txBox="1"/>
          <p:nvPr/>
        </p:nvSpPr>
        <p:spPr>
          <a:xfrm>
            <a:off x="6903720" y="58064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F1 STROKE</a:t>
            </a:r>
            <a:endParaRPr/>
          </a:p>
        </p:txBody>
      </p:sp>
      <p:sp>
        <p:nvSpPr>
          <p:cNvPr id="278" name="Google Shape;278;p6"/>
          <p:cNvSpPr txBox="1"/>
          <p:nvPr/>
        </p:nvSpPr>
        <p:spPr>
          <a:xfrm>
            <a:off x="6903720" y="608076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0.890</a:t>
            </a:r>
            <a:endParaRPr/>
          </a:p>
        </p:txBody>
      </p:sp>
      <p:sp>
        <p:nvSpPr>
          <p:cNvPr id="279" name="Google Shape;279;p6"/>
          <p:cNvSpPr/>
          <p:nvPr/>
        </p:nvSpPr>
        <p:spPr>
          <a:xfrm>
            <a:off x="9052560" y="5623560"/>
            <a:ext cx="21030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9052560" y="5623560"/>
            <a:ext cx="2103000" cy="507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 txBox="1"/>
          <p:nvPr/>
        </p:nvSpPr>
        <p:spPr>
          <a:xfrm>
            <a:off x="9281160" y="580644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F1 NORMAL</a:t>
            </a:r>
            <a:endParaRPr/>
          </a:p>
        </p:txBody>
      </p:sp>
      <p:sp>
        <p:nvSpPr>
          <p:cNvPr id="282" name="Google Shape;282;p6"/>
          <p:cNvSpPr txBox="1"/>
          <p:nvPr/>
        </p:nvSpPr>
        <p:spPr>
          <a:xfrm>
            <a:off x="9281160" y="608076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0.940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7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DATA &amp; FEATURES</a:t>
            </a:r>
            <a:endParaRPr/>
          </a:p>
        </p:txBody>
      </p:sp>
      <p:sp>
        <p:nvSpPr>
          <p:cNvPr id="288" name="Google Shape;288;p7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Clinical Feature Engineering &amp; Data Pipeline</a:t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731520" y="1463040"/>
            <a:ext cx="5303520" cy="5029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 txBox="1"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34 ENGINEERED CLINICAL FEATURES</a:t>
            </a:r>
            <a:endParaRPr/>
          </a:p>
        </p:txBody>
      </p:sp>
      <p:sp>
        <p:nvSpPr>
          <p:cNvPr id="291" name="Google Shape;291;p7"/>
          <p:cNvSpPr txBox="1"/>
          <p:nvPr/>
        </p:nvSpPr>
        <p:spPr>
          <a:xfrm>
            <a:off x="1005840" y="21031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Hemodynamic</a:t>
            </a:r>
            <a:endParaRPr/>
          </a:p>
        </p:txBody>
      </p:sp>
      <p:sp>
        <p:nvSpPr>
          <p:cNvPr id="292" name="Google Shape;292;p7"/>
          <p:cNvSpPr txBox="1"/>
          <p:nvPr/>
        </p:nvSpPr>
        <p:spPr>
          <a:xfrm>
            <a:off x="2926080" y="210312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Pulse Pressure, MAP, Shock Index,</a:t>
            </a:r>
            <a:b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Systolic/Diastolic BP</a:t>
            </a:r>
            <a:endParaRPr/>
          </a:p>
        </p:txBody>
      </p:sp>
      <p:sp>
        <p:nvSpPr>
          <p:cNvPr id="293" name="Google Shape;293;p7"/>
          <p:cNvSpPr txBox="1"/>
          <p:nvPr/>
        </p:nvSpPr>
        <p:spPr>
          <a:xfrm>
            <a:off x="1005840" y="272491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Respiratory</a:t>
            </a:r>
            <a:endParaRPr/>
          </a:p>
        </p:txBody>
      </p:sp>
      <p:sp>
        <p:nvSpPr>
          <p:cNvPr id="294" name="Google Shape;294;p7"/>
          <p:cNvSpPr txBox="1"/>
          <p:nvPr/>
        </p:nvSpPr>
        <p:spPr>
          <a:xfrm>
            <a:off x="2926080" y="2724912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SpO2, Respiratory Rate, FiO2,</a:t>
            </a:r>
            <a:b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Oxygen Device encoding</a:t>
            </a:r>
            <a:endParaRPr/>
          </a:p>
        </p:txBody>
      </p:sp>
      <p:sp>
        <p:nvSpPr>
          <p:cNvPr id="295" name="Google Shape;295;p7"/>
          <p:cNvSpPr txBox="1"/>
          <p:nvPr/>
        </p:nvSpPr>
        <p:spPr>
          <a:xfrm>
            <a:off x="1005840" y="3346704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Inflammatory</a:t>
            </a:r>
            <a:endParaRPr/>
          </a:p>
        </p:txBody>
      </p:sp>
      <p:sp>
        <p:nvSpPr>
          <p:cNvPr id="296" name="Google Shape;296;p7"/>
          <p:cNvSpPr txBox="1"/>
          <p:nvPr/>
        </p:nvSpPr>
        <p:spPr>
          <a:xfrm>
            <a:off x="2926080" y="3346704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CRP, WBC, Lactate levels</a:t>
            </a:r>
            <a:endParaRPr/>
          </a:p>
        </p:txBody>
      </p:sp>
      <p:sp>
        <p:nvSpPr>
          <p:cNvPr id="297" name="Google Shape;297;p7"/>
          <p:cNvSpPr txBox="1"/>
          <p:nvPr/>
        </p:nvSpPr>
        <p:spPr>
          <a:xfrm>
            <a:off x="1005840" y="3968496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Organ Function</a:t>
            </a:r>
            <a:endParaRPr/>
          </a:p>
        </p:txBody>
      </p:sp>
      <p:sp>
        <p:nvSpPr>
          <p:cNvPr id="298" name="Google Shape;298;p7"/>
          <p:cNvSpPr txBox="1"/>
          <p:nvPr/>
        </p:nvSpPr>
        <p:spPr>
          <a:xfrm>
            <a:off x="2926080" y="3968496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Creatinine, BUN, Bilirubin,</a:t>
            </a:r>
            <a:b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Platelet Count</a:t>
            </a:r>
            <a:endParaRPr/>
          </a:p>
        </p:txBody>
      </p:sp>
      <p:sp>
        <p:nvSpPr>
          <p:cNvPr id="299" name="Google Shape;299;p7"/>
          <p:cNvSpPr txBox="1"/>
          <p:nvPr/>
        </p:nvSpPr>
        <p:spPr>
          <a:xfrm>
            <a:off x="1005840" y="4590288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Composite Scores</a:t>
            </a:r>
            <a:endParaRPr/>
          </a:p>
        </p:txBody>
      </p:sp>
      <p:sp>
        <p:nvSpPr>
          <p:cNvPr id="300" name="Google Shape;300;p7"/>
          <p:cNvSpPr txBox="1"/>
          <p:nvPr/>
        </p:nvSpPr>
        <p:spPr>
          <a:xfrm>
            <a:off x="2926080" y="4590288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qSOFA, SOFA sub-scores,</a:t>
            </a:r>
            <a:b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GCS components</a:t>
            </a:r>
            <a:endParaRPr/>
          </a:p>
        </p:txBody>
      </p:sp>
      <p:sp>
        <p:nvSpPr>
          <p:cNvPr id="301" name="Google Shape;301;p7"/>
          <p:cNvSpPr txBox="1"/>
          <p:nvPr/>
        </p:nvSpPr>
        <p:spPr>
          <a:xfrm>
            <a:off x="1005840" y="52120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Temporal Trends</a:t>
            </a:r>
            <a:endParaRPr/>
          </a:p>
        </p:txBody>
      </p:sp>
      <p:sp>
        <p:nvSpPr>
          <p:cNvPr id="302" name="Google Shape;302;p7"/>
          <p:cNvSpPr txBox="1"/>
          <p:nvPr/>
        </p:nvSpPr>
        <p:spPr>
          <a:xfrm>
            <a:off x="2926080" y="521208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3-hour rolling means,</a:t>
            </a:r>
            <a:b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Hour-over-hour deltas</a:t>
            </a:r>
            <a:endParaRPr/>
          </a:p>
        </p:txBody>
      </p:sp>
      <p:sp>
        <p:nvSpPr>
          <p:cNvPr id="303" name="Google Shape;303;p7"/>
          <p:cNvSpPr txBox="1"/>
          <p:nvPr/>
        </p:nvSpPr>
        <p:spPr>
          <a:xfrm>
            <a:off x="1005840" y="583387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Demographics</a:t>
            </a:r>
            <a:endParaRPr/>
          </a:p>
        </p:txBody>
      </p:sp>
      <p:sp>
        <p:nvSpPr>
          <p:cNvPr id="304" name="Google Shape;304;p7"/>
          <p:cNvSpPr txBox="1"/>
          <p:nvPr/>
        </p:nvSpPr>
        <p:spPr>
          <a:xfrm>
            <a:off x="2926080" y="5833872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Age, Gender, Admission Type</a:t>
            </a:r>
            <a:b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(static features)</a:t>
            </a:r>
            <a:endParaRPr/>
          </a:p>
        </p:txBody>
      </p:sp>
      <p:sp>
        <p:nvSpPr>
          <p:cNvPr id="305" name="Google Shape;305;p7"/>
          <p:cNvSpPr/>
          <p:nvPr/>
        </p:nvSpPr>
        <p:spPr>
          <a:xfrm>
            <a:off x="6400800" y="1463040"/>
            <a:ext cx="5029200" cy="5029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 txBox="1"/>
          <p:nvPr/>
        </p:nvSpPr>
        <p:spPr>
          <a:xfrm>
            <a:off x="6675120" y="16459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DATA PIPELINE</a:t>
            </a:r>
            <a:endParaRPr/>
          </a:p>
        </p:txBody>
      </p:sp>
      <p:sp>
        <p:nvSpPr>
          <p:cNvPr id="307" name="Google Shape;307;p7"/>
          <p:cNvSpPr txBox="1"/>
          <p:nvPr/>
        </p:nvSpPr>
        <p:spPr>
          <a:xfrm>
            <a:off x="6675120" y="21031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308" name="Google Shape;308;p7"/>
          <p:cNvSpPr txBox="1"/>
          <p:nvPr/>
        </p:nvSpPr>
        <p:spPr>
          <a:xfrm>
            <a:off x="7223760" y="210312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INGEST</a:t>
            </a:r>
            <a:endParaRPr/>
          </a:p>
        </p:txBody>
      </p:sp>
      <p:sp>
        <p:nvSpPr>
          <p:cNvPr id="309" name="Google Shape;309;p7"/>
          <p:cNvSpPr txBox="1"/>
          <p:nvPr/>
        </p:nvSpPr>
        <p:spPr>
          <a:xfrm>
            <a:off x="8503920" y="21031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Raw CSV (293K rows × 22 cols)</a:t>
            </a:r>
            <a:endParaRPr/>
          </a:p>
        </p:txBody>
      </p:sp>
      <p:sp>
        <p:nvSpPr>
          <p:cNvPr id="310" name="Google Shape;310;p7"/>
          <p:cNvSpPr txBox="1"/>
          <p:nvPr/>
        </p:nvSpPr>
        <p:spPr>
          <a:xfrm>
            <a:off x="6675120" y="254203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311" name="Google Shape;311;p7"/>
          <p:cNvSpPr txBox="1"/>
          <p:nvPr/>
        </p:nvSpPr>
        <p:spPr>
          <a:xfrm>
            <a:off x="7223760" y="254203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ASSIGN</a:t>
            </a:r>
            <a:endParaRPr/>
          </a:p>
        </p:txBody>
      </p:sp>
      <p:sp>
        <p:nvSpPr>
          <p:cNvPr id="312" name="Google Shape;312;p7"/>
          <p:cNvSpPr txBox="1"/>
          <p:nvPr/>
        </p:nvSpPr>
        <p:spPr>
          <a:xfrm>
            <a:off x="8503920" y="254203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Patient ID grouping (7,000 patients)</a:t>
            </a:r>
            <a:endParaRPr/>
          </a:p>
        </p:txBody>
      </p:sp>
      <p:sp>
        <p:nvSpPr>
          <p:cNvPr id="313" name="Google Shape;313;p7"/>
          <p:cNvSpPr txBox="1"/>
          <p:nvPr/>
        </p:nvSpPr>
        <p:spPr>
          <a:xfrm>
            <a:off x="6675120" y="298094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314" name="Google Shape;314;p7"/>
          <p:cNvSpPr txBox="1"/>
          <p:nvPr/>
        </p:nvSpPr>
        <p:spPr>
          <a:xfrm>
            <a:off x="7223760" y="2980944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ENGINEER</a:t>
            </a:r>
            <a:endParaRPr/>
          </a:p>
        </p:txBody>
      </p:sp>
      <p:sp>
        <p:nvSpPr>
          <p:cNvPr id="315" name="Google Shape;315;p7"/>
          <p:cNvSpPr txBox="1"/>
          <p:nvPr/>
        </p:nvSpPr>
        <p:spPr>
          <a:xfrm>
            <a:off x="8503920" y="2980944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34 features + trend calculations</a:t>
            </a:r>
            <a:endParaRPr/>
          </a:p>
        </p:txBody>
      </p:sp>
      <p:sp>
        <p:nvSpPr>
          <p:cNvPr id="316" name="Google Shape;316;p7"/>
          <p:cNvSpPr txBox="1"/>
          <p:nvPr/>
        </p:nvSpPr>
        <p:spPr>
          <a:xfrm>
            <a:off x="6675120" y="3419856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317" name="Google Shape;317;p7"/>
          <p:cNvSpPr txBox="1"/>
          <p:nvPr/>
        </p:nvSpPr>
        <p:spPr>
          <a:xfrm>
            <a:off x="7223760" y="341985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ENCODE</a:t>
            </a:r>
            <a:endParaRPr/>
          </a:p>
        </p:txBody>
      </p:sp>
      <p:sp>
        <p:nvSpPr>
          <p:cNvPr id="318" name="Google Shape;318;p7"/>
          <p:cNvSpPr txBox="1"/>
          <p:nvPr/>
        </p:nvSpPr>
        <p:spPr>
          <a:xfrm>
            <a:off x="8503920" y="341985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Label encode categoricals</a:t>
            </a:r>
            <a:endParaRPr/>
          </a:p>
        </p:txBody>
      </p:sp>
      <p:sp>
        <p:nvSpPr>
          <p:cNvPr id="319" name="Google Shape;319;p7"/>
          <p:cNvSpPr txBox="1"/>
          <p:nvPr/>
        </p:nvSpPr>
        <p:spPr>
          <a:xfrm>
            <a:off x="6675120" y="385876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320" name="Google Shape;320;p7"/>
          <p:cNvSpPr txBox="1"/>
          <p:nvPr/>
        </p:nvSpPr>
        <p:spPr>
          <a:xfrm>
            <a:off x="7223760" y="385876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/>
          </a:p>
        </p:txBody>
      </p:sp>
      <p:sp>
        <p:nvSpPr>
          <p:cNvPr id="321" name="Google Shape;321;p7"/>
          <p:cNvSpPr txBox="1"/>
          <p:nvPr/>
        </p:nvSpPr>
        <p:spPr>
          <a:xfrm>
            <a:off x="8503920" y="385876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StandardScaler (fit train, transform val)</a:t>
            </a:r>
            <a:endParaRPr/>
          </a:p>
        </p:txBody>
      </p:sp>
      <p:sp>
        <p:nvSpPr>
          <p:cNvPr id="322" name="Google Shape;322;p7"/>
          <p:cNvSpPr txBox="1"/>
          <p:nvPr/>
        </p:nvSpPr>
        <p:spPr>
          <a:xfrm>
            <a:off x="6675120" y="4297679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323" name="Google Shape;323;p7"/>
          <p:cNvSpPr txBox="1"/>
          <p:nvPr/>
        </p:nvSpPr>
        <p:spPr>
          <a:xfrm>
            <a:off x="7223760" y="4297679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WINDOW</a:t>
            </a:r>
            <a:endParaRPr/>
          </a:p>
        </p:txBody>
      </p:sp>
      <p:sp>
        <p:nvSpPr>
          <p:cNvPr id="324" name="Google Shape;324;p7"/>
          <p:cNvSpPr txBox="1"/>
          <p:nvPr/>
        </p:nvSpPr>
        <p:spPr>
          <a:xfrm>
            <a:off x="8503920" y="4297679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12-hr sliding windows, step=1 hr</a:t>
            </a:r>
            <a:endParaRPr/>
          </a:p>
        </p:txBody>
      </p:sp>
      <p:sp>
        <p:nvSpPr>
          <p:cNvPr id="325" name="Google Shape;325;p7"/>
          <p:cNvSpPr txBox="1"/>
          <p:nvPr/>
        </p:nvSpPr>
        <p:spPr>
          <a:xfrm>
            <a:off x="6675120" y="473659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326" name="Google Shape;326;p7"/>
          <p:cNvSpPr txBox="1"/>
          <p:nvPr/>
        </p:nvSpPr>
        <p:spPr>
          <a:xfrm>
            <a:off x="7223760" y="473659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BALANCE</a:t>
            </a:r>
            <a:endParaRPr/>
          </a:p>
        </p:txBody>
      </p:sp>
      <p:sp>
        <p:nvSpPr>
          <p:cNvPr id="327" name="Google Shape;327;p7"/>
          <p:cNvSpPr txBox="1"/>
          <p:nvPr/>
        </p:nvSpPr>
        <p:spPr>
          <a:xfrm>
            <a:off x="8503920" y="473659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Focal Loss + Weighted Sampler</a:t>
            </a:r>
            <a:endParaRPr/>
          </a:p>
        </p:txBody>
      </p:sp>
      <p:sp>
        <p:nvSpPr>
          <p:cNvPr id="328" name="Google Shape;328;p7"/>
          <p:cNvSpPr txBox="1"/>
          <p:nvPr/>
        </p:nvSpPr>
        <p:spPr>
          <a:xfrm>
            <a:off x="6675120" y="517550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329" name="Google Shape;329;p7"/>
          <p:cNvSpPr txBox="1"/>
          <p:nvPr/>
        </p:nvSpPr>
        <p:spPr>
          <a:xfrm>
            <a:off x="7223760" y="5175504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/>
          </a:p>
        </p:txBody>
      </p:sp>
      <p:sp>
        <p:nvSpPr>
          <p:cNvPr id="330" name="Google Shape;330;p7"/>
          <p:cNvSpPr txBox="1"/>
          <p:nvPr/>
        </p:nvSpPr>
        <p:spPr>
          <a:xfrm>
            <a:off x="8503920" y="5175504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AdamW + CosineAnnealing, 60 epochs</a:t>
            </a:r>
            <a:endParaRPr/>
          </a:p>
        </p:txBody>
      </p:sp>
      <p:sp>
        <p:nvSpPr>
          <p:cNvPr id="331" name="Google Shape;331;p7"/>
          <p:cNvSpPr txBox="1"/>
          <p:nvPr/>
        </p:nvSpPr>
        <p:spPr>
          <a:xfrm>
            <a:off x="6675120" y="5614416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sp>
        <p:nvSpPr>
          <p:cNvPr id="332" name="Google Shape;332;p7"/>
          <p:cNvSpPr txBox="1"/>
          <p:nvPr/>
        </p:nvSpPr>
        <p:spPr>
          <a:xfrm>
            <a:off x="7223760" y="561441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EVALUATE</a:t>
            </a:r>
            <a:endParaRPr/>
          </a:p>
        </p:txBody>
      </p:sp>
      <p:sp>
        <p:nvSpPr>
          <p:cNvPr id="333" name="Google Shape;333;p7"/>
          <p:cNvSpPr txBox="1"/>
          <p:nvPr/>
        </p:nvSpPr>
        <p:spPr>
          <a:xfrm>
            <a:off x="8503920" y="561441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AUROC, AUPRC, F1, confusion matrix</a:t>
            </a:r>
            <a:endParaRPr/>
          </a:p>
        </p:txBody>
      </p:sp>
      <p:sp>
        <p:nvSpPr>
          <p:cNvPr id="334" name="Google Shape;334;p7"/>
          <p:cNvSpPr txBox="1"/>
          <p:nvPr/>
        </p:nvSpPr>
        <p:spPr>
          <a:xfrm>
            <a:off x="6675120" y="60533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335" name="Google Shape;335;p7"/>
          <p:cNvSpPr txBox="1"/>
          <p:nvPr/>
        </p:nvSpPr>
        <p:spPr>
          <a:xfrm>
            <a:off x="7223760" y="605332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</a:t>
            </a:r>
            <a:endParaRPr/>
          </a:p>
        </p:txBody>
      </p:sp>
      <p:sp>
        <p:nvSpPr>
          <p:cNvPr id="336" name="Google Shape;336;p7"/>
          <p:cNvSpPr txBox="1"/>
          <p:nvPr/>
        </p:nvSpPr>
        <p:spPr>
          <a:xfrm>
            <a:off x="8503920" y="605332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Streamlit app + cached inference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8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KEY DIFFERENTIATORS</a:t>
            </a:r>
            <a:endParaRPr/>
          </a:p>
        </p:txBody>
      </p:sp>
      <p:sp>
        <p:nvSpPr>
          <p:cNvPr id="342" name="Google Shape;342;p8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Privacy-First Design &amp; Intelligent Referral System</a:t>
            </a:r>
            <a:endParaRPr/>
          </a:p>
        </p:txBody>
      </p:sp>
      <p:sp>
        <p:nvSpPr>
          <p:cNvPr id="343" name="Google Shape;343;p8"/>
          <p:cNvSpPr/>
          <p:nvPr/>
        </p:nvSpPr>
        <p:spPr>
          <a:xfrm>
            <a:off x="731520" y="146304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731520" y="1463040"/>
            <a:ext cx="530352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 txBox="1"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🔒  PRIVACY-FIRST EDGE AI</a:t>
            </a:r>
            <a:endParaRPr/>
          </a:p>
        </p:txBody>
      </p:sp>
      <p:sp>
        <p:nvSpPr>
          <p:cNvPr id="346" name="Google Shape;346;p8"/>
          <p:cNvSpPr txBox="1"/>
          <p:nvPr/>
        </p:nvSpPr>
        <p:spPr>
          <a:xfrm>
            <a:off x="1005840" y="2103120"/>
            <a:ext cx="484632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✓  100% local inference — zero patient data leaves the device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✓  No cloud APIs for model predictions (HIPAA/DISHA ready)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✓  Local LLM via Ollama (qwen2.5:3b) for clinical explanations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✓  Only OpenStreetMap calls for hospital lookup (no PHI sent)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✓  Works offline after initial model download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✓  GPU acceleration when available, graceful CPU fallback</a:t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6400800" y="146304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6400800" y="1463040"/>
            <a:ext cx="5029200" cy="635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🩺  SPECIALIST RECOMMENDER</a:t>
            </a:r>
            <a:endParaRPr/>
          </a:p>
        </p:txBody>
      </p:sp>
      <p:sp>
        <p:nvSpPr>
          <p:cNvPr id="350" name="Google Shape;350;p8"/>
          <p:cNvSpPr txBox="1"/>
          <p:nvPr/>
        </p:nvSpPr>
        <p:spPr>
          <a:xfrm>
            <a:off x="6675120" y="2103120"/>
            <a:ext cx="45720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✓  Diagnosis → Specialist mapping with urgency levels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✓  IP-based auto-location detection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✓  170+ pre-coded Indian cities for instant geocoding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✓  Overpass API: hospitals within 15km (fallback 30km)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✓  Phone, website, hours from OpenStreetMap tags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 ✓  Direct Google Maps navigation links</a:t>
            </a: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731520" y="4023360"/>
            <a:ext cx="10698480" cy="25603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 txBox="1"/>
          <p:nvPr/>
        </p:nvSpPr>
        <p:spPr>
          <a:xfrm>
            <a:off x="1097280" y="42062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DIAGNOSIS → SPECIALIST URGENCY MAPPING</a:t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914400" y="4663440"/>
            <a:ext cx="1920240" cy="16916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914400" y="4663440"/>
            <a:ext cx="1920240" cy="5080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 txBox="1"/>
          <p:nvPr/>
        </p:nvSpPr>
        <p:spPr>
          <a:xfrm>
            <a:off x="1024128" y="480060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Vital Signs — HIGH Risk</a:t>
            </a:r>
            <a:endParaRPr/>
          </a:p>
        </p:txBody>
      </p:sp>
      <p:sp>
        <p:nvSpPr>
          <p:cNvPr id="356" name="Google Shape;356;p8"/>
          <p:cNvSpPr txBox="1"/>
          <p:nvPr/>
        </p:nvSpPr>
        <p:spPr>
          <a:xfrm>
            <a:off x="1024128" y="530352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Intensivist, Pulmonologist,</a:t>
            </a:r>
            <a:b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Cardiologist</a:t>
            </a:r>
            <a:endParaRPr/>
          </a:p>
        </p:txBody>
      </p:sp>
      <p:sp>
        <p:nvSpPr>
          <p:cNvPr id="357" name="Google Shape;357;p8"/>
          <p:cNvSpPr/>
          <p:nvPr/>
        </p:nvSpPr>
        <p:spPr>
          <a:xfrm>
            <a:off x="1024128" y="5943600"/>
            <a:ext cx="1097280" cy="274320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 txBox="1"/>
          <p:nvPr/>
        </p:nvSpPr>
        <p:spPr>
          <a:xfrm>
            <a:off x="1024128" y="59436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EMERGENCY</a:t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3017520" y="4663440"/>
            <a:ext cx="1920240" cy="16916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3017520" y="4663440"/>
            <a:ext cx="192024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 txBox="1"/>
          <p:nvPr/>
        </p:nvSpPr>
        <p:spPr>
          <a:xfrm>
            <a:off x="3127248" y="480060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Vital Signs — MOD Risk</a:t>
            </a:r>
            <a:endParaRPr/>
          </a:p>
        </p:txBody>
      </p:sp>
      <p:sp>
        <p:nvSpPr>
          <p:cNvPr id="362" name="Google Shape;362;p8"/>
          <p:cNvSpPr txBox="1"/>
          <p:nvPr/>
        </p:nvSpPr>
        <p:spPr>
          <a:xfrm>
            <a:off x="3127248" y="530352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Internal Medicine,</a:t>
            </a:r>
            <a:b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Hospitalist</a:t>
            </a:r>
            <a:endParaRPr/>
          </a:p>
        </p:txBody>
      </p:sp>
      <p:sp>
        <p:nvSpPr>
          <p:cNvPr id="363" name="Google Shape;363;p8"/>
          <p:cNvSpPr/>
          <p:nvPr/>
        </p:nvSpPr>
        <p:spPr>
          <a:xfrm>
            <a:off x="3127248" y="5943600"/>
            <a:ext cx="1097280" cy="27432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8"/>
          <p:cNvSpPr txBox="1"/>
          <p:nvPr/>
        </p:nvSpPr>
        <p:spPr>
          <a:xfrm>
            <a:off x="3127248" y="59436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URGENT</a:t>
            </a:r>
            <a:endParaRPr/>
          </a:p>
        </p:txBody>
      </p:sp>
      <p:sp>
        <p:nvSpPr>
          <p:cNvPr id="365" name="Google Shape;365;p8"/>
          <p:cNvSpPr/>
          <p:nvPr/>
        </p:nvSpPr>
        <p:spPr>
          <a:xfrm>
            <a:off x="5120640" y="4663440"/>
            <a:ext cx="1920240" cy="16916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5120640" y="4663440"/>
            <a:ext cx="1920240" cy="5080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8"/>
          <p:cNvSpPr txBox="1"/>
          <p:nvPr/>
        </p:nvSpPr>
        <p:spPr>
          <a:xfrm>
            <a:off x="5230368" y="480060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Foot Wound — Grade 3/4</a:t>
            </a:r>
            <a:endParaRPr/>
          </a:p>
        </p:txBody>
      </p:sp>
      <p:sp>
        <p:nvSpPr>
          <p:cNvPr id="368" name="Google Shape;368;p8"/>
          <p:cNvSpPr txBox="1"/>
          <p:nvPr/>
        </p:nvSpPr>
        <p:spPr>
          <a:xfrm>
            <a:off x="5230368" y="530352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Vascular Surgeon,</a:t>
            </a:r>
            <a:b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Orthopedist</a:t>
            </a:r>
            <a:endParaRPr/>
          </a:p>
        </p:txBody>
      </p:sp>
      <p:sp>
        <p:nvSpPr>
          <p:cNvPr id="369" name="Google Shape;369;p8"/>
          <p:cNvSpPr/>
          <p:nvPr/>
        </p:nvSpPr>
        <p:spPr>
          <a:xfrm>
            <a:off x="5230368" y="5943600"/>
            <a:ext cx="1097280" cy="274320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8"/>
          <p:cNvSpPr txBox="1"/>
          <p:nvPr/>
        </p:nvSpPr>
        <p:spPr>
          <a:xfrm>
            <a:off x="5230368" y="59436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EMERGENCY</a:t>
            </a:r>
            <a:endParaRPr/>
          </a:p>
        </p:txBody>
      </p:sp>
      <p:sp>
        <p:nvSpPr>
          <p:cNvPr id="371" name="Google Shape;371;p8"/>
          <p:cNvSpPr/>
          <p:nvPr/>
        </p:nvSpPr>
        <p:spPr>
          <a:xfrm>
            <a:off x="7223759" y="4663440"/>
            <a:ext cx="1920240" cy="16916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7223759" y="4663440"/>
            <a:ext cx="1920240" cy="5080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 txBox="1"/>
          <p:nvPr/>
        </p:nvSpPr>
        <p:spPr>
          <a:xfrm>
            <a:off x="7333487" y="480060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Foot Wound — Grade 1/2</a:t>
            </a:r>
            <a:endParaRPr/>
          </a:p>
        </p:txBody>
      </p:sp>
      <p:sp>
        <p:nvSpPr>
          <p:cNvPr id="374" name="Google Shape;374;p8"/>
          <p:cNvSpPr txBox="1"/>
          <p:nvPr/>
        </p:nvSpPr>
        <p:spPr>
          <a:xfrm>
            <a:off x="7333487" y="530352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Podiatrist,</a:t>
            </a:r>
            <a:b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Dermatologist</a:t>
            </a:r>
            <a:endParaRPr/>
          </a:p>
        </p:txBody>
      </p:sp>
      <p:sp>
        <p:nvSpPr>
          <p:cNvPr id="375" name="Google Shape;375;p8"/>
          <p:cNvSpPr/>
          <p:nvPr/>
        </p:nvSpPr>
        <p:spPr>
          <a:xfrm>
            <a:off x="7333487" y="5943600"/>
            <a:ext cx="1097280" cy="274320"/>
          </a:xfrm>
          <a:prstGeom prst="roundRect">
            <a:avLst>
              <a:gd name="adj" fmla="val 15000"/>
            </a:avLst>
          </a:prstGeom>
          <a:solidFill>
            <a:srgbClr val="22C55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/>
          <p:cNvSpPr txBox="1"/>
          <p:nvPr/>
        </p:nvSpPr>
        <p:spPr>
          <a:xfrm>
            <a:off x="7333487" y="59436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ROUTINE</a:t>
            </a:r>
            <a:endParaRPr/>
          </a:p>
        </p:txBody>
      </p:sp>
      <p:sp>
        <p:nvSpPr>
          <p:cNvPr id="377" name="Google Shape;377;p8"/>
          <p:cNvSpPr/>
          <p:nvPr/>
        </p:nvSpPr>
        <p:spPr>
          <a:xfrm>
            <a:off x="9326880" y="4663440"/>
            <a:ext cx="1920240" cy="16916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9326880" y="4663440"/>
            <a:ext cx="1920240" cy="5080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8"/>
          <p:cNvSpPr txBox="1"/>
          <p:nvPr/>
        </p:nvSpPr>
        <p:spPr>
          <a:xfrm>
            <a:off x="9436608" y="480060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Stroke — Detected</a:t>
            </a:r>
            <a:endParaRPr/>
          </a:p>
        </p:txBody>
      </p:sp>
      <p:sp>
        <p:nvSpPr>
          <p:cNvPr id="380" name="Google Shape;380;p8"/>
          <p:cNvSpPr txBox="1"/>
          <p:nvPr/>
        </p:nvSpPr>
        <p:spPr>
          <a:xfrm>
            <a:off x="9436608" y="530352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Neurologist,</a:t>
            </a:r>
            <a:b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Neurosurgeon</a:t>
            </a:r>
            <a:endParaRPr/>
          </a:p>
        </p:txBody>
      </p:sp>
      <p:sp>
        <p:nvSpPr>
          <p:cNvPr id="381" name="Google Shape;381;p8"/>
          <p:cNvSpPr/>
          <p:nvPr/>
        </p:nvSpPr>
        <p:spPr>
          <a:xfrm>
            <a:off x="9436608" y="5943600"/>
            <a:ext cx="1097280" cy="274320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8"/>
          <p:cNvSpPr txBox="1"/>
          <p:nvPr/>
        </p:nvSpPr>
        <p:spPr>
          <a:xfrm>
            <a:off x="9436608" y="59436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EMERGENCY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9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/>
          </a:p>
        </p:txBody>
      </p:sp>
      <p:sp>
        <p:nvSpPr>
          <p:cNvPr id="388" name="Google Shape;388;p9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 with Production-Grade Open-Source Tools</a:t>
            </a:r>
            <a:endParaRPr/>
          </a:p>
        </p:txBody>
      </p:sp>
      <p:sp>
        <p:nvSpPr>
          <p:cNvPr id="389" name="Google Shape;389;p9"/>
          <p:cNvSpPr/>
          <p:nvPr/>
        </p:nvSpPr>
        <p:spPr>
          <a:xfrm>
            <a:off x="731520" y="1463040"/>
            <a:ext cx="2606040" cy="4846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731520" y="1463040"/>
            <a:ext cx="2606040" cy="635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 txBox="1"/>
          <p:nvPr/>
        </p:nvSpPr>
        <p:spPr>
          <a:xfrm>
            <a:off x="960120" y="16916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DEEP LEARNING</a:t>
            </a:r>
            <a:endParaRPr/>
          </a:p>
        </p:txBody>
      </p:sp>
      <p:sp>
        <p:nvSpPr>
          <p:cNvPr id="392" name="Google Shape;392;p9"/>
          <p:cNvSpPr txBox="1"/>
          <p:nvPr/>
        </p:nvSpPr>
        <p:spPr>
          <a:xfrm>
            <a:off x="960120" y="2103120"/>
            <a:ext cx="219456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•  PyTorch — Model training &amp; inference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•  TorchVision — EfficientNet-B0 backbone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•  HuggingFace Transformers — CLIP validation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•  SafeTensors — Secure model serialization</a:t>
            </a:r>
            <a:endParaRPr/>
          </a:p>
        </p:txBody>
      </p:sp>
      <p:sp>
        <p:nvSpPr>
          <p:cNvPr id="393" name="Google Shape;393;p9"/>
          <p:cNvSpPr/>
          <p:nvPr/>
        </p:nvSpPr>
        <p:spPr>
          <a:xfrm>
            <a:off x="3566160" y="1463040"/>
            <a:ext cx="2606040" cy="4846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3566160" y="1463040"/>
            <a:ext cx="260604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 txBox="1"/>
          <p:nvPr/>
        </p:nvSpPr>
        <p:spPr>
          <a:xfrm>
            <a:off x="3794760" y="16916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DATA &amp; ML</a:t>
            </a:r>
            <a:endParaRPr/>
          </a:p>
        </p:txBody>
      </p:sp>
      <p:sp>
        <p:nvSpPr>
          <p:cNvPr id="396" name="Google Shape;396;p9"/>
          <p:cNvSpPr txBox="1"/>
          <p:nvPr/>
        </p:nvSpPr>
        <p:spPr>
          <a:xfrm>
            <a:off x="3794760" y="2103120"/>
            <a:ext cx="219456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•  Pandas &amp; NumPy — Data manipulation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•  scikit-learn — Preprocessing &amp; metrics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•  Matplotlib — Statistical visualization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•  StandardScaler + LabelEncoder — Feature scaling</a:t>
            </a:r>
            <a:endParaRPr/>
          </a:p>
        </p:txBody>
      </p:sp>
      <p:sp>
        <p:nvSpPr>
          <p:cNvPr id="397" name="Google Shape;397;p9"/>
          <p:cNvSpPr/>
          <p:nvPr/>
        </p:nvSpPr>
        <p:spPr>
          <a:xfrm>
            <a:off x="6400800" y="1463040"/>
            <a:ext cx="2606040" cy="4846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6400800" y="1463040"/>
            <a:ext cx="2606040" cy="63500"/>
          </a:xfrm>
          <a:prstGeom prst="rect">
            <a:avLst/>
          </a:prstGeom>
          <a:solidFill>
            <a:srgbClr val="F43F5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 txBox="1"/>
          <p:nvPr/>
        </p:nvSpPr>
        <p:spPr>
          <a:xfrm>
            <a:off x="6629400" y="16916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FRONTEND / UI</a:t>
            </a:r>
            <a:endParaRPr/>
          </a:p>
        </p:txBody>
      </p:sp>
      <p:sp>
        <p:nvSpPr>
          <p:cNvPr id="400" name="Google Shape;400;p9"/>
          <p:cNvSpPr txBox="1"/>
          <p:nvPr/>
        </p:nvSpPr>
        <p:spPr>
          <a:xfrm>
            <a:off x="6629400" y="2103120"/>
            <a:ext cx="219456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•  Streamlit — Rapid web UI framework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•  Plotly — Interactive clinical dashboards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•  Pillow (PIL) — Image processing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•  Custom CSS — Medical-grade UI theming</a:t>
            </a:r>
            <a:endParaRPr/>
          </a:p>
        </p:txBody>
      </p:sp>
      <p:sp>
        <p:nvSpPr>
          <p:cNvPr id="401" name="Google Shape;401;p9"/>
          <p:cNvSpPr/>
          <p:nvPr/>
        </p:nvSpPr>
        <p:spPr>
          <a:xfrm>
            <a:off x="9235440" y="1463040"/>
            <a:ext cx="2606040" cy="4846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9235440" y="1463040"/>
            <a:ext cx="2606040" cy="635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 txBox="1"/>
          <p:nvPr/>
        </p:nvSpPr>
        <p:spPr>
          <a:xfrm>
            <a:off x="9464040" y="16916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INFRASTRUCTURE</a:t>
            </a:r>
            <a:endParaRPr/>
          </a:p>
        </p:txBody>
      </p:sp>
      <p:sp>
        <p:nvSpPr>
          <p:cNvPr id="404" name="Google Shape;404;p9"/>
          <p:cNvSpPr txBox="1"/>
          <p:nvPr/>
        </p:nvSpPr>
        <p:spPr>
          <a:xfrm>
            <a:off x="9464040" y="2103120"/>
            <a:ext cx="219456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•  Ollama — Local LLM (qwen2.5:3b)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•  OpenStreetMap — Hospital geosearch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•  CUDA — GPU acceleration (optional)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 •  Streamlit Cache — Sub-second reruns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0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BENCHMARKS</a:t>
            </a:r>
            <a:endParaRPr/>
          </a:p>
        </p:txBody>
      </p:sp>
      <p:sp>
        <p:nvSpPr>
          <p:cNvPr id="410" name="Google Shape;410;p10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Model Performance Summary</a:t>
            </a: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731520" y="1463040"/>
            <a:ext cx="1188720" cy="50292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 txBox="1"/>
          <p:nvPr/>
        </p:nvSpPr>
        <p:spPr>
          <a:xfrm>
            <a:off x="822960" y="155448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1920240" y="1463040"/>
            <a:ext cx="2011680" cy="50292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 txBox="1"/>
          <p:nvPr/>
        </p:nvSpPr>
        <p:spPr>
          <a:xfrm>
            <a:off x="2011680" y="15544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/>
          </a:p>
        </p:txBody>
      </p:sp>
      <p:sp>
        <p:nvSpPr>
          <p:cNvPr id="415" name="Google Shape;415;p10"/>
          <p:cNvSpPr/>
          <p:nvPr/>
        </p:nvSpPr>
        <p:spPr>
          <a:xfrm>
            <a:off x="3931920" y="1463040"/>
            <a:ext cx="914400" cy="50292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 txBox="1"/>
          <p:nvPr/>
        </p:nvSpPr>
        <p:spPr>
          <a:xfrm>
            <a:off x="4023360" y="15544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AUROC</a:t>
            </a: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4846320" y="1463040"/>
            <a:ext cx="1097280" cy="50292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 txBox="1"/>
          <p:nvPr/>
        </p:nvSpPr>
        <p:spPr>
          <a:xfrm>
            <a:off x="4937760" y="15544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/>
          </a:p>
        </p:txBody>
      </p:sp>
      <p:sp>
        <p:nvSpPr>
          <p:cNvPr id="419" name="Google Shape;419;p10"/>
          <p:cNvSpPr/>
          <p:nvPr/>
        </p:nvSpPr>
        <p:spPr>
          <a:xfrm>
            <a:off x="5943600" y="1463040"/>
            <a:ext cx="914400" cy="50292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 txBox="1"/>
          <p:nvPr/>
        </p:nvSpPr>
        <p:spPr>
          <a:xfrm>
            <a:off x="6035040" y="15544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 Score</a:t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6858000" y="1463040"/>
            <a:ext cx="2286000" cy="50292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 txBox="1"/>
          <p:nvPr/>
        </p:nvSpPr>
        <p:spPr>
          <a:xfrm>
            <a:off x="6949440" y="155448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Size</a:t>
            </a:r>
            <a:endParaRPr/>
          </a:p>
        </p:txBody>
      </p:sp>
      <p:sp>
        <p:nvSpPr>
          <p:cNvPr id="423" name="Google Shape;423;p10"/>
          <p:cNvSpPr/>
          <p:nvPr/>
        </p:nvSpPr>
        <p:spPr>
          <a:xfrm>
            <a:off x="9144000" y="1463040"/>
            <a:ext cx="2011680" cy="50292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 txBox="1"/>
          <p:nvPr/>
        </p:nvSpPr>
        <p:spPr>
          <a:xfrm>
            <a:off x="9235440" y="15544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Feature</a:t>
            </a: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731520" y="1965960"/>
            <a:ext cx="1188720" cy="502920"/>
          </a:xfrm>
          <a:prstGeom prst="roundRect">
            <a:avLst>
              <a:gd name="adj" fmla="val 1000"/>
            </a:avLst>
          </a:prstGeom>
          <a:solidFill>
            <a:srgbClr val="E0F2F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 txBox="1"/>
          <p:nvPr/>
        </p:nvSpPr>
        <p:spPr>
          <a:xfrm>
            <a:off x="822960" y="205740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PS2: Vitals</a:t>
            </a:r>
            <a:endParaRPr/>
          </a:p>
        </p:txBody>
      </p:sp>
      <p:sp>
        <p:nvSpPr>
          <p:cNvPr id="427" name="Google Shape;427;p10"/>
          <p:cNvSpPr/>
          <p:nvPr/>
        </p:nvSpPr>
        <p:spPr>
          <a:xfrm>
            <a:off x="1920240" y="1965960"/>
            <a:ext cx="2011680" cy="502920"/>
          </a:xfrm>
          <a:prstGeom prst="roundRect">
            <a:avLst>
              <a:gd name="adj" fmla="val 1000"/>
            </a:avLst>
          </a:prstGeom>
          <a:solidFill>
            <a:srgbClr val="E0F2F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 txBox="1"/>
          <p:nvPr/>
        </p:nvSpPr>
        <p:spPr>
          <a:xfrm>
            <a:off x="2011680" y="20574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Temporal Transformer</a:t>
            </a: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3931920" y="1965960"/>
            <a:ext cx="914400" cy="502920"/>
          </a:xfrm>
          <a:prstGeom prst="roundRect">
            <a:avLst>
              <a:gd name="adj" fmla="val 1000"/>
            </a:avLst>
          </a:prstGeom>
          <a:solidFill>
            <a:srgbClr val="E0F2F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 txBox="1"/>
          <p:nvPr/>
        </p:nvSpPr>
        <p:spPr>
          <a:xfrm>
            <a:off x="4023360" y="205740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0.996</a:t>
            </a:r>
            <a:endParaRPr/>
          </a:p>
        </p:txBody>
      </p:sp>
      <p:sp>
        <p:nvSpPr>
          <p:cNvPr id="431" name="Google Shape;431;p10"/>
          <p:cNvSpPr/>
          <p:nvPr/>
        </p:nvSpPr>
        <p:spPr>
          <a:xfrm>
            <a:off x="4846320" y="1965960"/>
            <a:ext cx="1097280" cy="502920"/>
          </a:xfrm>
          <a:prstGeom prst="roundRect">
            <a:avLst>
              <a:gd name="adj" fmla="val 1000"/>
            </a:avLst>
          </a:prstGeom>
          <a:solidFill>
            <a:srgbClr val="E0F2F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 txBox="1"/>
          <p:nvPr/>
        </p:nvSpPr>
        <p:spPr>
          <a:xfrm>
            <a:off x="4937760" y="20574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/>
          </a:p>
        </p:txBody>
      </p:sp>
      <p:sp>
        <p:nvSpPr>
          <p:cNvPr id="433" name="Google Shape;433;p10"/>
          <p:cNvSpPr/>
          <p:nvPr/>
        </p:nvSpPr>
        <p:spPr>
          <a:xfrm>
            <a:off x="5943600" y="1965960"/>
            <a:ext cx="914400" cy="502920"/>
          </a:xfrm>
          <a:prstGeom prst="roundRect">
            <a:avLst>
              <a:gd name="adj" fmla="val 1000"/>
            </a:avLst>
          </a:prstGeom>
          <a:solidFill>
            <a:srgbClr val="E0F2F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 txBox="1"/>
          <p:nvPr/>
        </p:nvSpPr>
        <p:spPr>
          <a:xfrm>
            <a:off x="6035040" y="205740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/>
          </a:p>
        </p:txBody>
      </p:sp>
      <p:sp>
        <p:nvSpPr>
          <p:cNvPr id="435" name="Google Shape;435;p10"/>
          <p:cNvSpPr/>
          <p:nvPr/>
        </p:nvSpPr>
        <p:spPr>
          <a:xfrm>
            <a:off x="6858000" y="1965960"/>
            <a:ext cx="2286000" cy="502920"/>
          </a:xfrm>
          <a:prstGeom prst="roundRect">
            <a:avLst>
              <a:gd name="adj" fmla="val 1000"/>
            </a:avLst>
          </a:prstGeom>
          <a:solidFill>
            <a:srgbClr val="E0F2F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 txBox="1"/>
          <p:nvPr/>
        </p:nvSpPr>
        <p:spPr>
          <a:xfrm>
            <a:off x="6949440" y="20574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293K rows / 7K patients</a:t>
            </a:r>
            <a:endParaRPr/>
          </a:p>
        </p:txBody>
      </p:sp>
      <p:sp>
        <p:nvSpPr>
          <p:cNvPr id="437" name="Google Shape;437;p10"/>
          <p:cNvSpPr/>
          <p:nvPr/>
        </p:nvSpPr>
        <p:spPr>
          <a:xfrm>
            <a:off x="9144000" y="1965960"/>
            <a:ext cx="2011680" cy="502920"/>
          </a:xfrm>
          <a:prstGeom prst="roundRect">
            <a:avLst>
              <a:gd name="adj" fmla="val 1000"/>
            </a:avLst>
          </a:prstGeom>
          <a:solidFill>
            <a:srgbClr val="E0F2F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 txBox="1"/>
          <p:nvPr/>
        </p:nvSpPr>
        <p:spPr>
          <a:xfrm>
            <a:off x="9235440" y="20574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8-Head Self-Attention</a:t>
            </a:r>
            <a:endParaRPr/>
          </a:p>
        </p:txBody>
      </p:sp>
      <p:sp>
        <p:nvSpPr>
          <p:cNvPr id="439" name="Google Shape;439;p10"/>
          <p:cNvSpPr/>
          <p:nvPr/>
        </p:nvSpPr>
        <p:spPr>
          <a:xfrm>
            <a:off x="731520" y="2468880"/>
            <a:ext cx="1188720" cy="502920"/>
          </a:xfrm>
          <a:prstGeom prst="roundRect">
            <a:avLst>
              <a:gd name="adj" fmla="val 1000"/>
            </a:avLst>
          </a:prstGeom>
          <a:solidFill>
            <a:srgbClr val="FFE4E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0"/>
          <p:cNvSpPr txBox="1"/>
          <p:nvPr/>
        </p:nvSpPr>
        <p:spPr>
          <a:xfrm>
            <a:off x="822960" y="256032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PS1: Wound</a:t>
            </a:r>
            <a:endParaRPr/>
          </a:p>
        </p:txBody>
      </p:sp>
      <p:sp>
        <p:nvSpPr>
          <p:cNvPr id="441" name="Google Shape;441;p10"/>
          <p:cNvSpPr/>
          <p:nvPr/>
        </p:nvSpPr>
        <p:spPr>
          <a:xfrm>
            <a:off x="1920240" y="2468880"/>
            <a:ext cx="2011680" cy="502920"/>
          </a:xfrm>
          <a:prstGeom prst="roundRect">
            <a:avLst>
              <a:gd name="adj" fmla="val 1000"/>
            </a:avLst>
          </a:prstGeom>
          <a:solidFill>
            <a:srgbClr val="FFE4E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0"/>
          <p:cNvSpPr txBox="1"/>
          <p:nvPr/>
        </p:nvSpPr>
        <p:spPr>
          <a:xfrm>
            <a:off x="2011680" y="25603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EfficientNet-B0</a:t>
            </a:r>
            <a:endParaRPr/>
          </a:p>
        </p:txBody>
      </p:sp>
      <p:sp>
        <p:nvSpPr>
          <p:cNvPr id="443" name="Google Shape;443;p10"/>
          <p:cNvSpPr/>
          <p:nvPr/>
        </p:nvSpPr>
        <p:spPr>
          <a:xfrm>
            <a:off x="3931920" y="2468880"/>
            <a:ext cx="914400" cy="502920"/>
          </a:xfrm>
          <a:prstGeom prst="roundRect">
            <a:avLst>
              <a:gd name="adj" fmla="val 1000"/>
            </a:avLst>
          </a:prstGeom>
          <a:solidFill>
            <a:srgbClr val="FFE4E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0"/>
          <p:cNvSpPr txBox="1"/>
          <p:nvPr/>
        </p:nvSpPr>
        <p:spPr>
          <a:xfrm>
            <a:off x="4023360" y="25603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/>
          </a:p>
        </p:txBody>
      </p:sp>
      <p:sp>
        <p:nvSpPr>
          <p:cNvPr id="445" name="Google Shape;445;p10"/>
          <p:cNvSpPr/>
          <p:nvPr/>
        </p:nvSpPr>
        <p:spPr>
          <a:xfrm>
            <a:off x="4846320" y="2468880"/>
            <a:ext cx="1097280" cy="502920"/>
          </a:xfrm>
          <a:prstGeom prst="roundRect">
            <a:avLst>
              <a:gd name="adj" fmla="val 1000"/>
            </a:avLst>
          </a:prstGeom>
          <a:solidFill>
            <a:srgbClr val="FFE4E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0"/>
          <p:cNvSpPr txBox="1"/>
          <p:nvPr/>
        </p:nvSpPr>
        <p:spPr>
          <a:xfrm>
            <a:off x="4937760" y="256032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97.05%</a:t>
            </a:r>
            <a:endParaRPr/>
          </a:p>
        </p:txBody>
      </p:sp>
      <p:sp>
        <p:nvSpPr>
          <p:cNvPr id="447" name="Google Shape;447;p10"/>
          <p:cNvSpPr/>
          <p:nvPr/>
        </p:nvSpPr>
        <p:spPr>
          <a:xfrm>
            <a:off x="5943600" y="2468880"/>
            <a:ext cx="914400" cy="502920"/>
          </a:xfrm>
          <a:prstGeom prst="roundRect">
            <a:avLst>
              <a:gd name="adj" fmla="val 1000"/>
            </a:avLst>
          </a:prstGeom>
          <a:solidFill>
            <a:srgbClr val="FFE4E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0"/>
          <p:cNvSpPr txBox="1"/>
          <p:nvPr/>
        </p:nvSpPr>
        <p:spPr>
          <a:xfrm>
            <a:off x="6035040" y="25603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0.970</a:t>
            </a:r>
            <a:endParaRPr/>
          </a:p>
        </p:txBody>
      </p:sp>
      <p:sp>
        <p:nvSpPr>
          <p:cNvPr id="449" name="Google Shape;449;p10"/>
          <p:cNvSpPr/>
          <p:nvPr/>
        </p:nvSpPr>
        <p:spPr>
          <a:xfrm>
            <a:off x="6858000" y="2468880"/>
            <a:ext cx="2286000" cy="502920"/>
          </a:xfrm>
          <a:prstGeom prst="roundRect">
            <a:avLst>
              <a:gd name="adj" fmla="val 1000"/>
            </a:avLst>
          </a:prstGeom>
          <a:solidFill>
            <a:srgbClr val="FFE4E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 txBox="1"/>
          <p:nvPr/>
        </p:nvSpPr>
        <p:spPr>
          <a:xfrm>
            <a:off x="6949440" y="256032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9,934 images</a:t>
            </a:r>
            <a:endParaRPr/>
          </a:p>
        </p:txBody>
      </p:sp>
      <p:sp>
        <p:nvSpPr>
          <p:cNvPr id="451" name="Google Shape;451;p10"/>
          <p:cNvSpPr/>
          <p:nvPr/>
        </p:nvSpPr>
        <p:spPr>
          <a:xfrm>
            <a:off x="9144000" y="2468880"/>
            <a:ext cx="2011680" cy="502920"/>
          </a:xfrm>
          <a:prstGeom prst="roundRect">
            <a:avLst>
              <a:gd name="adj" fmla="val 1000"/>
            </a:avLst>
          </a:prstGeom>
          <a:solidFill>
            <a:srgbClr val="FFE4E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0"/>
          <p:cNvSpPr txBox="1"/>
          <p:nvPr/>
        </p:nvSpPr>
        <p:spPr>
          <a:xfrm>
            <a:off x="9235440" y="25603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CLIP Validation</a:t>
            </a:r>
            <a:endParaRPr/>
          </a:p>
        </p:txBody>
      </p:sp>
      <p:sp>
        <p:nvSpPr>
          <p:cNvPr id="453" name="Google Shape;453;p10"/>
          <p:cNvSpPr/>
          <p:nvPr/>
        </p:nvSpPr>
        <p:spPr>
          <a:xfrm>
            <a:off x="731520" y="2971800"/>
            <a:ext cx="1188720" cy="502920"/>
          </a:xfrm>
          <a:prstGeom prst="roundRect">
            <a:avLst>
              <a:gd name="adj" fmla="val 1000"/>
            </a:avLst>
          </a:prstGeom>
          <a:solidFill>
            <a:srgbClr val="E0E7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0"/>
          <p:cNvSpPr txBox="1"/>
          <p:nvPr/>
        </p:nvSpPr>
        <p:spPr>
          <a:xfrm>
            <a:off x="822960" y="306324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PS5: Stroke</a:t>
            </a:r>
            <a:endParaRPr/>
          </a:p>
        </p:txBody>
      </p:sp>
      <p:sp>
        <p:nvSpPr>
          <p:cNvPr id="455" name="Google Shape;455;p10"/>
          <p:cNvSpPr/>
          <p:nvPr/>
        </p:nvSpPr>
        <p:spPr>
          <a:xfrm>
            <a:off x="1920240" y="2971800"/>
            <a:ext cx="2011680" cy="502920"/>
          </a:xfrm>
          <a:prstGeom prst="roundRect">
            <a:avLst>
              <a:gd name="adj" fmla="val 1000"/>
            </a:avLst>
          </a:prstGeom>
          <a:solidFill>
            <a:srgbClr val="E0E7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0"/>
          <p:cNvSpPr txBox="1"/>
          <p:nvPr/>
        </p:nvSpPr>
        <p:spPr>
          <a:xfrm>
            <a:off x="2011680" y="30632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EfficientNet-B0</a:t>
            </a:r>
            <a:endParaRPr/>
          </a:p>
        </p:txBody>
      </p:sp>
      <p:sp>
        <p:nvSpPr>
          <p:cNvPr id="457" name="Google Shape;457;p10"/>
          <p:cNvSpPr/>
          <p:nvPr/>
        </p:nvSpPr>
        <p:spPr>
          <a:xfrm>
            <a:off x="3931920" y="2971800"/>
            <a:ext cx="914400" cy="502920"/>
          </a:xfrm>
          <a:prstGeom prst="roundRect">
            <a:avLst>
              <a:gd name="adj" fmla="val 1000"/>
            </a:avLst>
          </a:prstGeom>
          <a:solidFill>
            <a:srgbClr val="E0E7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0"/>
          <p:cNvSpPr txBox="1"/>
          <p:nvPr/>
        </p:nvSpPr>
        <p:spPr>
          <a:xfrm>
            <a:off x="4023360" y="306324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0.982</a:t>
            </a:r>
            <a:endParaRPr/>
          </a:p>
        </p:txBody>
      </p:sp>
      <p:sp>
        <p:nvSpPr>
          <p:cNvPr id="459" name="Google Shape;459;p10"/>
          <p:cNvSpPr/>
          <p:nvPr/>
        </p:nvSpPr>
        <p:spPr>
          <a:xfrm>
            <a:off x="4846320" y="2971800"/>
            <a:ext cx="1097280" cy="502920"/>
          </a:xfrm>
          <a:prstGeom prst="roundRect">
            <a:avLst>
              <a:gd name="adj" fmla="val 1000"/>
            </a:avLst>
          </a:prstGeom>
          <a:solidFill>
            <a:srgbClr val="E0E7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0"/>
          <p:cNvSpPr txBox="1"/>
          <p:nvPr/>
        </p:nvSpPr>
        <p:spPr>
          <a:xfrm>
            <a:off x="4937760" y="30632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92.2%</a:t>
            </a:r>
            <a:endParaRPr/>
          </a:p>
        </p:txBody>
      </p:sp>
      <p:sp>
        <p:nvSpPr>
          <p:cNvPr id="461" name="Google Shape;461;p10"/>
          <p:cNvSpPr/>
          <p:nvPr/>
        </p:nvSpPr>
        <p:spPr>
          <a:xfrm>
            <a:off x="5943600" y="2971800"/>
            <a:ext cx="914400" cy="502920"/>
          </a:xfrm>
          <a:prstGeom prst="roundRect">
            <a:avLst>
              <a:gd name="adj" fmla="val 1000"/>
            </a:avLst>
          </a:prstGeom>
          <a:solidFill>
            <a:srgbClr val="E0E7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0"/>
          <p:cNvSpPr txBox="1"/>
          <p:nvPr/>
        </p:nvSpPr>
        <p:spPr>
          <a:xfrm>
            <a:off x="6035040" y="306324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0.890</a:t>
            </a:r>
            <a:endParaRPr/>
          </a:p>
        </p:txBody>
      </p:sp>
      <p:sp>
        <p:nvSpPr>
          <p:cNvPr id="463" name="Google Shape;463;p10"/>
          <p:cNvSpPr/>
          <p:nvPr/>
        </p:nvSpPr>
        <p:spPr>
          <a:xfrm>
            <a:off x="6858000" y="2971800"/>
            <a:ext cx="2286000" cy="502920"/>
          </a:xfrm>
          <a:prstGeom prst="roundRect">
            <a:avLst>
              <a:gd name="adj" fmla="val 1000"/>
            </a:avLst>
          </a:prstGeom>
          <a:solidFill>
            <a:srgbClr val="E0E7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0"/>
          <p:cNvSpPr txBox="1"/>
          <p:nvPr/>
        </p:nvSpPr>
        <p:spPr>
          <a:xfrm>
            <a:off x="6949440" y="306324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2,501 CT scans</a:t>
            </a:r>
            <a:endParaRPr/>
          </a:p>
        </p:txBody>
      </p:sp>
      <p:sp>
        <p:nvSpPr>
          <p:cNvPr id="465" name="Google Shape;465;p10"/>
          <p:cNvSpPr/>
          <p:nvPr/>
        </p:nvSpPr>
        <p:spPr>
          <a:xfrm>
            <a:off x="9144000" y="2971800"/>
            <a:ext cx="2011680" cy="502920"/>
          </a:xfrm>
          <a:prstGeom prst="roundRect">
            <a:avLst>
              <a:gd name="adj" fmla="val 1000"/>
            </a:avLst>
          </a:prstGeom>
          <a:solidFill>
            <a:srgbClr val="E0E7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0"/>
          <p:cNvSpPr txBox="1"/>
          <p:nvPr/>
        </p:nvSpPr>
        <p:spPr>
          <a:xfrm>
            <a:off x="9235440" y="30632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Emergency Alerts</a:t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731550" y="3474713"/>
            <a:ext cx="10424100" cy="4572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0"/>
          <p:cNvSpPr txBox="1"/>
          <p:nvPr/>
        </p:nvSpPr>
        <p:spPr>
          <a:xfrm>
            <a:off x="914400" y="3564860"/>
            <a:ext cx="10058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⚡ Class Imbalance: 94.6% stable vs 5.4% deteriorating → Solved with Focal Loss + WeightedRandomSampler + Threshold Optimization (0.841)</a:t>
            </a:r>
            <a:endParaRPr/>
          </a:p>
        </p:txBody>
      </p:sp>
      <p:sp>
        <p:nvSpPr>
          <p:cNvPr id="469" name="Google Shape;469;p10"/>
          <p:cNvSpPr txBox="1"/>
          <p:nvPr/>
        </p:nvSpPr>
        <p:spPr>
          <a:xfrm>
            <a:off x="731520" y="40233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KEY TECHNICAL ACHIEVEMENTS</a:t>
            </a:r>
            <a:endParaRPr/>
          </a:p>
        </p:txBody>
      </p:sp>
      <p:sp>
        <p:nvSpPr>
          <p:cNvPr id="470" name="Google Shape;470;p10"/>
          <p:cNvSpPr/>
          <p:nvPr/>
        </p:nvSpPr>
        <p:spPr>
          <a:xfrm>
            <a:off x="731520" y="4389120"/>
            <a:ext cx="2560320" cy="2011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0"/>
          <p:cNvSpPr/>
          <p:nvPr/>
        </p:nvSpPr>
        <p:spPr>
          <a:xfrm>
            <a:off x="731520" y="4389120"/>
            <a:ext cx="2560320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0"/>
          <p:cNvSpPr txBox="1"/>
          <p:nvPr/>
        </p:nvSpPr>
        <p:spPr>
          <a:xfrm>
            <a:off x="914400" y="4572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Transfer Learning</a:t>
            </a:r>
            <a:endParaRPr/>
          </a:p>
        </p:txBody>
      </p:sp>
      <p:sp>
        <p:nvSpPr>
          <p:cNvPr id="473" name="Google Shape;473;p10"/>
          <p:cNvSpPr txBox="1"/>
          <p:nvPr/>
        </p:nvSpPr>
        <p:spPr>
          <a:xfrm>
            <a:off x="914400" y="493776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EfficientNet-B0 pretrained on 1M ImageNet images,</a:t>
            </a:r>
            <a:b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fine-tuned on medical datasets — achieves high accuracy with limited data</a:t>
            </a:r>
            <a:endParaRPr/>
          </a:p>
        </p:txBody>
      </p:sp>
      <p:sp>
        <p:nvSpPr>
          <p:cNvPr id="474" name="Google Shape;474;p10"/>
          <p:cNvSpPr/>
          <p:nvPr/>
        </p:nvSpPr>
        <p:spPr>
          <a:xfrm>
            <a:off x="3520439" y="4389120"/>
            <a:ext cx="2560320" cy="2011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0"/>
          <p:cNvSpPr/>
          <p:nvPr/>
        </p:nvSpPr>
        <p:spPr>
          <a:xfrm>
            <a:off x="3520439" y="4389120"/>
            <a:ext cx="256032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0"/>
          <p:cNvSpPr txBox="1"/>
          <p:nvPr/>
        </p:nvSpPr>
        <p:spPr>
          <a:xfrm>
            <a:off x="3703319" y="4572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Attention Mechanism</a:t>
            </a:r>
            <a:endParaRPr/>
          </a:p>
        </p:txBody>
      </p:sp>
      <p:sp>
        <p:nvSpPr>
          <p:cNvPr id="477" name="Google Shape;477;p10"/>
          <p:cNvSpPr txBox="1"/>
          <p:nvPr/>
        </p:nvSpPr>
        <p:spPr>
          <a:xfrm>
            <a:off x="3703319" y="493776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8-head self-attention allows any hour to attend to any other,</a:t>
            </a:r>
            <a:b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capturing long-range temporal dependencies in vital signs</a:t>
            </a:r>
            <a:endParaRPr/>
          </a:p>
        </p:txBody>
      </p:sp>
      <p:sp>
        <p:nvSpPr>
          <p:cNvPr id="478" name="Google Shape;478;p10"/>
          <p:cNvSpPr/>
          <p:nvPr/>
        </p:nvSpPr>
        <p:spPr>
          <a:xfrm>
            <a:off x="6309359" y="4389120"/>
            <a:ext cx="2560320" cy="2011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6309359" y="4389120"/>
            <a:ext cx="2560320" cy="50800"/>
          </a:xfrm>
          <a:prstGeom prst="rect">
            <a:avLst/>
          </a:prstGeom>
          <a:solidFill>
            <a:srgbClr val="F43F5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0"/>
          <p:cNvSpPr txBox="1"/>
          <p:nvPr/>
        </p:nvSpPr>
        <p:spPr>
          <a:xfrm>
            <a:off x="6492239" y="4572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Image Validation</a:t>
            </a:r>
            <a:endParaRPr/>
          </a:p>
        </p:txBody>
      </p:sp>
      <p:sp>
        <p:nvSpPr>
          <p:cNvPr id="481" name="Google Shape;481;p10"/>
          <p:cNvSpPr txBox="1"/>
          <p:nvPr/>
        </p:nvSpPr>
        <p:spPr>
          <a:xfrm>
            <a:off x="6492239" y="493776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CLIP zero-shot classification prevents garbage-in-garbage-out</a:t>
            </a:r>
            <a:b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by rejecting non-medical images before inference</a:t>
            </a:r>
            <a:endParaRPr/>
          </a:p>
        </p:txBody>
      </p:sp>
      <p:sp>
        <p:nvSpPr>
          <p:cNvPr id="482" name="Google Shape;482;p10"/>
          <p:cNvSpPr/>
          <p:nvPr/>
        </p:nvSpPr>
        <p:spPr>
          <a:xfrm>
            <a:off x="9098280" y="4389120"/>
            <a:ext cx="2560320" cy="2011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9098280" y="4389120"/>
            <a:ext cx="256032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0"/>
          <p:cNvSpPr txBox="1"/>
          <p:nvPr/>
        </p:nvSpPr>
        <p:spPr>
          <a:xfrm>
            <a:off x="9281160" y="4572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Clinical Features</a:t>
            </a:r>
            <a:endParaRPr/>
          </a:p>
        </p:txBody>
      </p:sp>
      <p:sp>
        <p:nvSpPr>
          <p:cNvPr id="485" name="Google Shape;485;p10"/>
          <p:cNvSpPr txBox="1"/>
          <p:nvPr/>
        </p:nvSpPr>
        <p:spPr>
          <a:xfrm>
            <a:off x="9281160" y="493776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34 domain-driven features (qSOFA, MAP, Shock Index)</a:t>
            </a:r>
            <a:b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engineered from raw vitals — domain expertise encoded in data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1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USER EXPERIENCE</a:t>
            </a:r>
            <a:endParaRPr/>
          </a:p>
        </p:txBody>
      </p:sp>
      <p:sp>
        <p:nvSpPr>
          <p:cNvPr id="491" name="Google Shape;491;p11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End-to-End Clinical Workflow</a:t>
            </a:r>
            <a:endParaRPr/>
          </a:p>
        </p:txBody>
      </p:sp>
      <p:sp>
        <p:nvSpPr>
          <p:cNvPr id="492" name="Google Shape;492;p11"/>
          <p:cNvSpPr/>
          <p:nvPr/>
        </p:nvSpPr>
        <p:spPr>
          <a:xfrm>
            <a:off x="1051560" y="14630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1"/>
          <p:cNvSpPr txBox="1"/>
          <p:nvPr/>
        </p:nvSpPr>
        <p:spPr>
          <a:xfrm>
            <a:off x="1051560" y="1517904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94" name="Google Shape;494;p11"/>
          <p:cNvSpPr/>
          <p:nvPr/>
        </p:nvSpPr>
        <p:spPr>
          <a:xfrm>
            <a:off x="457200" y="2194560"/>
            <a:ext cx="173736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1"/>
          <p:cNvSpPr/>
          <p:nvPr/>
        </p:nvSpPr>
        <p:spPr>
          <a:xfrm>
            <a:off x="457200" y="2194560"/>
            <a:ext cx="1737360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1"/>
          <p:cNvSpPr txBox="1"/>
          <p:nvPr/>
        </p:nvSpPr>
        <p:spPr>
          <a:xfrm>
            <a:off x="594360" y="24231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SELECT MODULE</a:t>
            </a:r>
            <a:endParaRPr/>
          </a:p>
        </p:txBody>
      </p:sp>
      <p:sp>
        <p:nvSpPr>
          <p:cNvPr id="497" name="Google Shape;497;p11"/>
          <p:cNvSpPr txBox="1"/>
          <p:nvPr/>
        </p:nvSpPr>
        <p:spPr>
          <a:xfrm>
            <a:off x="594360" y="2834640"/>
            <a:ext cx="14630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Choose from Vital Signs,</a:t>
            </a:r>
            <a:b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Wound Grader, or Stroke</a:t>
            </a:r>
            <a:b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Detector via sidebar</a:t>
            </a:r>
            <a:endParaRPr/>
          </a:p>
        </p:txBody>
      </p:sp>
      <p:sp>
        <p:nvSpPr>
          <p:cNvPr id="498" name="Google Shape;498;p11"/>
          <p:cNvSpPr txBox="1"/>
          <p:nvPr/>
        </p:nvSpPr>
        <p:spPr>
          <a:xfrm>
            <a:off x="2240280" y="301752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499" name="Google Shape;499;p11"/>
          <p:cNvSpPr/>
          <p:nvPr/>
        </p:nvSpPr>
        <p:spPr>
          <a:xfrm>
            <a:off x="2971800" y="14630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1"/>
          <p:cNvSpPr txBox="1"/>
          <p:nvPr/>
        </p:nvSpPr>
        <p:spPr>
          <a:xfrm>
            <a:off x="2971800" y="1517904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01" name="Google Shape;501;p11"/>
          <p:cNvSpPr/>
          <p:nvPr/>
        </p:nvSpPr>
        <p:spPr>
          <a:xfrm>
            <a:off x="2377440" y="2194560"/>
            <a:ext cx="173736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1"/>
          <p:cNvSpPr/>
          <p:nvPr/>
        </p:nvSpPr>
        <p:spPr>
          <a:xfrm>
            <a:off x="2377440" y="2194560"/>
            <a:ext cx="173736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1"/>
          <p:cNvSpPr txBox="1"/>
          <p:nvPr/>
        </p:nvSpPr>
        <p:spPr>
          <a:xfrm>
            <a:off x="2514600" y="24231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UPLOAD DATA</a:t>
            </a:r>
            <a:endParaRPr/>
          </a:p>
        </p:txBody>
      </p:sp>
      <p:sp>
        <p:nvSpPr>
          <p:cNvPr id="504" name="Google Shape;504;p11"/>
          <p:cNvSpPr txBox="1"/>
          <p:nvPr/>
        </p:nvSpPr>
        <p:spPr>
          <a:xfrm>
            <a:off x="2514600" y="2834640"/>
            <a:ext cx="14630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CSV for vitals, photo for</a:t>
            </a:r>
            <a:b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wounds, CT image for</a:t>
            </a:r>
            <a:b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stroke detection</a:t>
            </a:r>
            <a:endParaRPr/>
          </a:p>
        </p:txBody>
      </p:sp>
      <p:sp>
        <p:nvSpPr>
          <p:cNvPr id="505" name="Google Shape;505;p11"/>
          <p:cNvSpPr txBox="1"/>
          <p:nvPr/>
        </p:nvSpPr>
        <p:spPr>
          <a:xfrm>
            <a:off x="4160520" y="301752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506" name="Google Shape;506;p11"/>
          <p:cNvSpPr/>
          <p:nvPr/>
        </p:nvSpPr>
        <p:spPr>
          <a:xfrm>
            <a:off x="4892040" y="14630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1"/>
          <p:cNvSpPr txBox="1"/>
          <p:nvPr/>
        </p:nvSpPr>
        <p:spPr>
          <a:xfrm>
            <a:off x="4892040" y="1517904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08" name="Google Shape;508;p11"/>
          <p:cNvSpPr/>
          <p:nvPr/>
        </p:nvSpPr>
        <p:spPr>
          <a:xfrm>
            <a:off x="4297680" y="2194560"/>
            <a:ext cx="173736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1"/>
          <p:cNvSpPr/>
          <p:nvPr/>
        </p:nvSpPr>
        <p:spPr>
          <a:xfrm>
            <a:off x="4297680" y="2194560"/>
            <a:ext cx="1737360" cy="508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1"/>
          <p:cNvSpPr txBox="1"/>
          <p:nvPr/>
        </p:nvSpPr>
        <p:spPr>
          <a:xfrm>
            <a:off x="4434840" y="24231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AI ANALYSIS</a:t>
            </a:r>
            <a:endParaRPr/>
          </a:p>
        </p:txBody>
      </p:sp>
      <p:sp>
        <p:nvSpPr>
          <p:cNvPr id="511" name="Google Shape;511;p11"/>
          <p:cNvSpPr txBox="1"/>
          <p:nvPr/>
        </p:nvSpPr>
        <p:spPr>
          <a:xfrm>
            <a:off x="4434840" y="2834640"/>
            <a:ext cx="14630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Cached models run locally.</a:t>
            </a:r>
            <a:b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&lt; 2 sec inference.</a:t>
            </a:r>
            <a:b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No internet needed.</a:t>
            </a:r>
            <a:endParaRPr/>
          </a:p>
        </p:txBody>
      </p:sp>
      <p:sp>
        <p:nvSpPr>
          <p:cNvPr id="512" name="Google Shape;512;p11"/>
          <p:cNvSpPr txBox="1"/>
          <p:nvPr/>
        </p:nvSpPr>
        <p:spPr>
          <a:xfrm>
            <a:off x="6080760" y="301752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513" name="Google Shape;513;p11"/>
          <p:cNvSpPr/>
          <p:nvPr/>
        </p:nvSpPr>
        <p:spPr>
          <a:xfrm>
            <a:off x="6812280" y="14630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1"/>
          <p:cNvSpPr txBox="1"/>
          <p:nvPr/>
        </p:nvSpPr>
        <p:spPr>
          <a:xfrm>
            <a:off x="6812280" y="1517904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15" name="Google Shape;515;p11"/>
          <p:cNvSpPr/>
          <p:nvPr/>
        </p:nvSpPr>
        <p:spPr>
          <a:xfrm>
            <a:off x="6217920" y="2194560"/>
            <a:ext cx="173736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1"/>
          <p:cNvSpPr/>
          <p:nvPr/>
        </p:nvSpPr>
        <p:spPr>
          <a:xfrm>
            <a:off x="6217920" y="2194560"/>
            <a:ext cx="1737360" cy="508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1"/>
          <p:cNvSpPr txBox="1"/>
          <p:nvPr/>
        </p:nvSpPr>
        <p:spPr>
          <a:xfrm>
            <a:off x="6355080" y="24231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RISK ALERT</a:t>
            </a:r>
            <a:endParaRPr/>
          </a:p>
        </p:txBody>
      </p:sp>
      <p:sp>
        <p:nvSpPr>
          <p:cNvPr id="518" name="Google Shape;518;p11"/>
          <p:cNvSpPr txBox="1"/>
          <p:nvPr/>
        </p:nvSpPr>
        <p:spPr>
          <a:xfrm>
            <a:off x="6355080" y="2834640"/>
            <a:ext cx="14630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Color-coded severity with</a:t>
            </a:r>
            <a:b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confidence score and</a:t>
            </a:r>
            <a:b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clinical explanation (LLM)</a:t>
            </a:r>
            <a:endParaRPr/>
          </a:p>
        </p:txBody>
      </p:sp>
      <p:sp>
        <p:nvSpPr>
          <p:cNvPr id="519" name="Google Shape;519;p11"/>
          <p:cNvSpPr txBox="1"/>
          <p:nvPr/>
        </p:nvSpPr>
        <p:spPr>
          <a:xfrm>
            <a:off x="8001000" y="301752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520" name="Google Shape;520;p11"/>
          <p:cNvSpPr/>
          <p:nvPr/>
        </p:nvSpPr>
        <p:spPr>
          <a:xfrm>
            <a:off x="8732520" y="14630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1"/>
          <p:cNvSpPr txBox="1"/>
          <p:nvPr/>
        </p:nvSpPr>
        <p:spPr>
          <a:xfrm>
            <a:off x="8732520" y="1517904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22" name="Google Shape;522;p11"/>
          <p:cNvSpPr/>
          <p:nvPr/>
        </p:nvSpPr>
        <p:spPr>
          <a:xfrm>
            <a:off x="8138160" y="2194560"/>
            <a:ext cx="173736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1"/>
          <p:cNvSpPr/>
          <p:nvPr/>
        </p:nvSpPr>
        <p:spPr>
          <a:xfrm>
            <a:off x="8138160" y="2194560"/>
            <a:ext cx="1737360" cy="50800"/>
          </a:xfrm>
          <a:prstGeom prst="rect">
            <a:avLst/>
          </a:prstGeom>
          <a:solidFill>
            <a:srgbClr val="F43F5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1"/>
          <p:cNvSpPr txBox="1"/>
          <p:nvPr/>
        </p:nvSpPr>
        <p:spPr>
          <a:xfrm>
            <a:off x="8275320" y="24231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SPECIALIST</a:t>
            </a:r>
            <a:endParaRPr/>
          </a:p>
        </p:txBody>
      </p:sp>
      <p:sp>
        <p:nvSpPr>
          <p:cNvPr id="525" name="Google Shape;525;p11"/>
          <p:cNvSpPr txBox="1"/>
          <p:nvPr/>
        </p:nvSpPr>
        <p:spPr>
          <a:xfrm>
            <a:off x="8275320" y="2834640"/>
            <a:ext cx="14630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AI maps diagnosis to</a:t>
            </a:r>
            <a:b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specialist type with</a:t>
            </a:r>
            <a:b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urgency level</a:t>
            </a:r>
            <a:endParaRPr/>
          </a:p>
        </p:txBody>
      </p:sp>
      <p:sp>
        <p:nvSpPr>
          <p:cNvPr id="526" name="Google Shape;526;p11"/>
          <p:cNvSpPr txBox="1"/>
          <p:nvPr/>
        </p:nvSpPr>
        <p:spPr>
          <a:xfrm>
            <a:off x="9921240" y="301752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527" name="Google Shape;527;p11"/>
          <p:cNvSpPr/>
          <p:nvPr/>
        </p:nvSpPr>
        <p:spPr>
          <a:xfrm>
            <a:off x="10652760" y="14630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1"/>
          <p:cNvSpPr txBox="1"/>
          <p:nvPr/>
        </p:nvSpPr>
        <p:spPr>
          <a:xfrm>
            <a:off x="10652760" y="1517904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29" name="Google Shape;529;p11"/>
          <p:cNvSpPr/>
          <p:nvPr/>
        </p:nvSpPr>
        <p:spPr>
          <a:xfrm>
            <a:off x="10058400" y="2194560"/>
            <a:ext cx="173736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1"/>
          <p:cNvSpPr/>
          <p:nvPr/>
        </p:nvSpPr>
        <p:spPr>
          <a:xfrm>
            <a:off x="10058400" y="2194560"/>
            <a:ext cx="1737360" cy="5080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1"/>
          <p:cNvSpPr txBox="1"/>
          <p:nvPr/>
        </p:nvSpPr>
        <p:spPr>
          <a:xfrm>
            <a:off x="10195560" y="24231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HOSPITAL FINDER</a:t>
            </a:r>
            <a:endParaRPr/>
          </a:p>
        </p:txBody>
      </p:sp>
      <p:sp>
        <p:nvSpPr>
          <p:cNvPr id="532" name="Google Shape;532;p11"/>
          <p:cNvSpPr txBox="1"/>
          <p:nvPr/>
        </p:nvSpPr>
        <p:spPr>
          <a:xfrm>
            <a:off x="10195560" y="2834640"/>
            <a:ext cx="14630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Auto-locates nearby</a:t>
            </a:r>
            <a:b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hospitals, shows distance,</a:t>
            </a:r>
            <a:b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phone, and directions</a:t>
            </a:r>
            <a:endParaRPr/>
          </a:p>
        </p:txBody>
      </p:sp>
      <p:sp>
        <p:nvSpPr>
          <p:cNvPr id="533" name="Google Shape;533;p11"/>
          <p:cNvSpPr/>
          <p:nvPr/>
        </p:nvSpPr>
        <p:spPr>
          <a:xfrm>
            <a:off x="731520" y="4754880"/>
            <a:ext cx="10698480" cy="1828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1"/>
          <p:cNvSpPr txBox="1"/>
          <p:nvPr/>
        </p:nvSpPr>
        <p:spPr>
          <a:xfrm>
            <a:off x="1097280" y="49377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UI / UX HIGHLIGHTS</a:t>
            </a:r>
            <a:endParaRPr/>
          </a:p>
        </p:txBody>
      </p:sp>
      <p:sp>
        <p:nvSpPr>
          <p:cNvPr id="535" name="Google Shape;535;p11"/>
          <p:cNvSpPr txBox="1"/>
          <p:nvPr/>
        </p:nvSpPr>
        <p:spPr>
          <a:xfrm>
            <a:off x="914400" y="53035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Interactive Dashboards</a:t>
            </a:r>
            <a:endParaRPr/>
          </a:p>
        </p:txBody>
      </p:sp>
      <p:sp>
        <p:nvSpPr>
          <p:cNvPr id="536" name="Google Shape;536;p11"/>
          <p:cNvSpPr txBox="1"/>
          <p:nvPr/>
        </p:nvSpPr>
        <p:spPr>
          <a:xfrm>
            <a:off x="914400" y="562356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6-panel Plotly charts for</a:t>
            </a:r>
            <a:b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vital sign trend analysis</a:t>
            </a:r>
            <a:endParaRPr/>
          </a:p>
        </p:txBody>
      </p:sp>
      <p:sp>
        <p:nvSpPr>
          <p:cNvPr id="537" name="Google Shape;537;p11"/>
          <p:cNvSpPr txBox="1"/>
          <p:nvPr/>
        </p:nvSpPr>
        <p:spPr>
          <a:xfrm>
            <a:off x="3017520" y="53035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Branded Loading</a:t>
            </a:r>
            <a:endParaRPr/>
          </a:p>
        </p:txBody>
      </p:sp>
      <p:sp>
        <p:nvSpPr>
          <p:cNvPr id="538" name="Google Shape;538;p11"/>
          <p:cNvSpPr txBox="1"/>
          <p:nvPr/>
        </p:nvSpPr>
        <p:spPr>
          <a:xfrm>
            <a:off x="3017520" y="562356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Skeleton shimmer loaders</a:t>
            </a:r>
            <a:b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while models initialize</a:t>
            </a:r>
            <a:endParaRPr/>
          </a:p>
        </p:txBody>
      </p:sp>
      <p:sp>
        <p:nvSpPr>
          <p:cNvPr id="539" name="Google Shape;539;p11"/>
          <p:cNvSpPr txBox="1"/>
          <p:nvPr/>
        </p:nvSpPr>
        <p:spPr>
          <a:xfrm>
            <a:off x="5120640" y="53035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Session State</a:t>
            </a:r>
            <a:endParaRPr/>
          </a:p>
        </p:txBody>
      </p:sp>
      <p:sp>
        <p:nvSpPr>
          <p:cNvPr id="540" name="Google Shape;540;p11"/>
          <p:cNvSpPr txBox="1"/>
          <p:nvPr/>
        </p:nvSpPr>
        <p:spPr>
          <a:xfrm>
            <a:off x="5120640" y="562356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Streamlit caching for</a:t>
            </a:r>
            <a:b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sub-second page reruns</a:t>
            </a:r>
            <a:endParaRPr/>
          </a:p>
        </p:txBody>
      </p:sp>
      <p:sp>
        <p:nvSpPr>
          <p:cNvPr id="541" name="Google Shape;541;p11"/>
          <p:cNvSpPr txBox="1"/>
          <p:nvPr/>
        </p:nvSpPr>
        <p:spPr>
          <a:xfrm>
            <a:off x="7223759" y="53035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Alert System</a:t>
            </a:r>
            <a:endParaRPr/>
          </a:p>
        </p:txBody>
      </p:sp>
      <p:sp>
        <p:nvSpPr>
          <p:cNvPr id="542" name="Google Shape;542;p11"/>
          <p:cNvSpPr txBox="1"/>
          <p:nvPr/>
        </p:nvSpPr>
        <p:spPr>
          <a:xfrm>
            <a:off x="7223759" y="562356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Color-coded risk alerts:</a:t>
            </a:r>
            <a:b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RED / AMBER / GREEN</a:t>
            </a:r>
            <a:endParaRPr/>
          </a:p>
        </p:txBody>
      </p:sp>
      <p:sp>
        <p:nvSpPr>
          <p:cNvPr id="543" name="Google Shape;543;p11"/>
          <p:cNvSpPr txBox="1"/>
          <p:nvPr/>
        </p:nvSpPr>
        <p:spPr>
          <a:xfrm>
            <a:off x="9326880" y="53035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 Interface</a:t>
            </a:r>
            <a:endParaRPr/>
          </a:p>
        </p:txBody>
      </p:sp>
      <p:sp>
        <p:nvSpPr>
          <p:cNvPr id="544" name="Google Shape;544;p11"/>
          <p:cNvSpPr txBox="1"/>
          <p:nvPr/>
        </p:nvSpPr>
        <p:spPr>
          <a:xfrm>
            <a:off x="9326880" y="562356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Ask clinical questions</a:t>
            </a:r>
            <a:b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via local Ollama LLM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2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IMPACT &amp; ROADMAP</a:t>
            </a:r>
            <a:endParaRPr/>
          </a:p>
        </p:txBody>
      </p:sp>
      <p:sp>
        <p:nvSpPr>
          <p:cNvPr id="550" name="Google Shape;550;p12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Real-World Impact &amp; Future Vision</a:t>
            </a:r>
            <a:endParaRPr/>
          </a:p>
        </p:txBody>
      </p:sp>
      <p:sp>
        <p:nvSpPr>
          <p:cNvPr id="551" name="Google Shape;551;p12"/>
          <p:cNvSpPr/>
          <p:nvPr/>
        </p:nvSpPr>
        <p:spPr>
          <a:xfrm>
            <a:off x="731520" y="146304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2"/>
          <p:cNvSpPr/>
          <p:nvPr/>
        </p:nvSpPr>
        <p:spPr>
          <a:xfrm>
            <a:off x="731520" y="1463040"/>
            <a:ext cx="2560320" cy="635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2"/>
          <p:cNvSpPr txBox="1"/>
          <p:nvPr/>
        </p:nvSpPr>
        <p:spPr>
          <a:xfrm>
            <a:off x="914400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⏱</a:t>
            </a:r>
            <a:endParaRPr/>
          </a:p>
        </p:txBody>
      </p:sp>
      <p:sp>
        <p:nvSpPr>
          <p:cNvPr id="554" name="Google Shape;554;p12"/>
          <p:cNvSpPr txBox="1"/>
          <p:nvPr/>
        </p:nvSpPr>
        <p:spPr>
          <a:xfrm>
            <a:off x="1371600" y="16916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Earlier Detection</a:t>
            </a:r>
            <a:endParaRPr/>
          </a:p>
        </p:txBody>
      </p:sp>
      <p:sp>
        <p:nvSpPr>
          <p:cNvPr id="555" name="Google Shape;555;p12"/>
          <p:cNvSpPr txBox="1"/>
          <p:nvPr/>
        </p:nvSpPr>
        <p:spPr>
          <a:xfrm>
            <a:off x="914400" y="219456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Up to 6-8 hours advance</a:t>
            </a:r>
            <a:b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warning of deterioration</a:t>
            </a:r>
            <a:endParaRPr/>
          </a:p>
        </p:txBody>
      </p:sp>
      <p:sp>
        <p:nvSpPr>
          <p:cNvPr id="556" name="Google Shape;556;p12"/>
          <p:cNvSpPr/>
          <p:nvPr/>
        </p:nvSpPr>
        <p:spPr>
          <a:xfrm>
            <a:off x="3566160" y="146304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2"/>
          <p:cNvSpPr/>
          <p:nvPr/>
        </p:nvSpPr>
        <p:spPr>
          <a:xfrm>
            <a:off x="3566160" y="1463040"/>
            <a:ext cx="256032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2"/>
          <p:cNvSpPr txBox="1"/>
          <p:nvPr/>
        </p:nvSpPr>
        <p:spPr>
          <a:xfrm>
            <a:off x="3749040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🏥</a:t>
            </a:r>
            <a:endParaRPr/>
          </a:p>
        </p:txBody>
      </p:sp>
      <p:sp>
        <p:nvSpPr>
          <p:cNvPr id="559" name="Google Shape;559;p12"/>
          <p:cNvSpPr txBox="1"/>
          <p:nvPr/>
        </p:nvSpPr>
        <p:spPr>
          <a:xfrm>
            <a:off x="4206240" y="16916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Rural Healthcare</a:t>
            </a:r>
            <a:endParaRPr/>
          </a:p>
        </p:txBody>
      </p:sp>
      <p:sp>
        <p:nvSpPr>
          <p:cNvPr id="560" name="Google Shape;560;p12"/>
          <p:cNvSpPr txBox="1"/>
          <p:nvPr/>
        </p:nvSpPr>
        <p:spPr>
          <a:xfrm>
            <a:off x="3749040" y="219456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Specialist-level diagnostics</a:t>
            </a:r>
            <a:b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without specialist access</a:t>
            </a:r>
            <a:endParaRPr/>
          </a:p>
        </p:txBody>
      </p:sp>
      <p:sp>
        <p:nvSpPr>
          <p:cNvPr id="561" name="Google Shape;561;p12"/>
          <p:cNvSpPr/>
          <p:nvPr/>
        </p:nvSpPr>
        <p:spPr>
          <a:xfrm>
            <a:off x="6400800" y="146304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2"/>
          <p:cNvSpPr/>
          <p:nvPr/>
        </p:nvSpPr>
        <p:spPr>
          <a:xfrm>
            <a:off x="6400800" y="1463040"/>
            <a:ext cx="2560320" cy="63500"/>
          </a:xfrm>
          <a:prstGeom prst="rect">
            <a:avLst/>
          </a:prstGeom>
          <a:solidFill>
            <a:srgbClr val="6366F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2"/>
          <p:cNvSpPr txBox="1"/>
          <p:nvPr/>
        </p:nvSpPr>
        <p:spPr>
          <a:xfrm>
            <a:off x="6583680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/>
          </a:p>
        </p:txBody>
      </p:sp>
      <p:sp>
        <p:nvSpPr>
          <p:cNvPr id="564" name="Google Shape;564;p12"/>
          <p:cNvSpPr txBox="1"/>
          <p:nvPr/>
        </p:nvSpPr>
        <p:spPr>
          <a:xfrm>
            <a:off x="7040880" y="16916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Data Privacy</a:t>
            </a:r>
            <a:endParaRPr/>
          </a:p>
        </p:txBody>
      </p:sp>
      <p:sp>
        <p:nvSpPr>
          <p:cNvPr id="565" name="Google Shape;565;p12"/>
          <p:cNvSpPr txBox="1"/>
          <p:nvPr/>
        </p:nvSpPr>
        <p:spPr>
          <a:xfrm>
            <a:off x="6583680" y="219456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Zero cloud dependency means</a:t>
            </a:r>
            <a:b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full HIPAA/DISHA compliance</a:t>
            </a:r>
            <a:endParaRPr/>
          </a:p>
        </p:txBody>
      </p:sp>
      <p:sp>
        <p:nvSpPr>
          <p:cNvPr id="566" name="Google Shape;566;p12"/>
          <p:cNvSpPr/>
          <p:nvPr/>
        </p:nvSpPr>
        <p:spPr>
          <a:xfrm>
            <a:off x="9235440" y="146304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2"/>
          <p:cNvSpPr/>
          <p:nvPr/>
        </p:nvSpPr>
        <p:spPr>
          <a:xfrm>
            <a:off x="9235440" y="1463040"/>
            <a:ext cx="2560320" cy="635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2"/>
          <p:cNvSpPr txBox="1"/>
          <p:nvPr/>
        </p:nvSpPr>
        <p:spPr>
          <a:xfrm>
            <a:off x="9418320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/>
          </a:p>
        </p:txBody>
      </p:sp>
      <p:sp>
        <p:nvSpPr>
          <p:cNvPr id="569" name="Google Shape;569;p12"/>
          <p:cNvSpPr txBox="1"/>
          <p:nvPr/>
        </p:nvSpPr>
        <p:spPr>
          <a:xfrm>
            <a:off x="9875520" y="16916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Cost Reduction</a:t>
            </a:r>
            <a:endParaRPr/>
          </a:p>
        </p:txBody>
      </p:sp>
      <p:sp>
        <p:nvSpPr>
          <p:cNvPr id="570" name="Google Shape;570;p12"/>
          <p:cNvSpPr txBox="1"/>
          <p:nvPr/>
        </p:nvSpPr>
        <p:spPr>
          <a:xfrm>
            <a:off x="9418320" y="219456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Runs on consumer hardware,</a:t>
            </a:r>
            <a:b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expensive GPU servers</a:t>
            </a:r>
            <a:endParaRPr/>
          </a:p>
        </p:txBody>
      </p:sp>
      <p:sp>
        <p:nvSpPr>
          <p:cNvPr id="571" name="Google Shape;571;p12"/>
          <p:cNvSpPr/>
          <p:nvPr/>
        </p:nvSpPr>
        <p:spPr>
          <a:xfrm>
            <a:off x="731520" y="3383280"/>
            <a:ext cx="10698480" cy="32004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2"/>
          <p:cNvSpPr txBox="1"/>
          <p:nvPr/>
        </p:nvSpPr>
        <p:spPr>
          <a:xfrm>
            <a:off x="1097280" y="35661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FUTURE ROADMAP</a:t>
            </a:r>
            <a:endParaRPr/>
          </a:p>
        </p:txBody>
      </p:sp>
      <p:sp>
        <p:nvSpPr>
          <p:cNvPr id="573" name="Google Shape;573;p12"/>
          <p:cNvSpPr/>
          <p:nvPr/>
        </p:nvSpPr>
        <p:spPr>
          <a:xfrm>
            <a:off x="1097280" y="4023360"/>
            <a:ext cx="914400" cy="32004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2"/>
          <p:cNvSpPr txBox="1"/>
          <p:nvPr/>
        </p:nvSpPr>
        <p:spPr>
          <a:xfrm>
            <a:off x="1097280" y="40416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/>
          </a:p>
        </p:txBody>
      </p:sp>
      <p:sp>
        <p:nvSpPr>
          <p:cNvPr id="575" name="Google Shape;575;p12"/>
          <p:cNvSpPr txBox="1"/>
          <p:nvPr/>
        </p:nvSpPr>
        <p:spPr>
          <a:xfrm>
            <a:off x="2286000" y="402336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3 modules live: Vital Signs, Wound Grading, Stroke Detection</a:t>
            </a:r>
            <a:b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Specialist recommender + Hospital finder integrated</a:t>
            </a:r>
            <a:endParaRPr/>
          </a:p>
        </p:txBody>
      </p:sp>
      <p:sp>
        <p:nvSpPr>
          <p:cNvPr id="576" name="Google Shape;576;p12"/>
          <p:cNvSpPr/>
          <p:nvPr/>
        </p:nvSpPr>
        <p:spPr>
          <a:xfrm>
            <a:off x="1097280" y="4709160"/>
            <a:ext cx="914400" cy="320040"/>
          </a:xfrm>
          <a:prstGeom prst="roundRect">
            <a:avLst>
              <a:gd name="adj" fmla="val 15000"/>
            </a:avLst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2"/>
          <p:cNvSpPr txBox="1"/>
          <p:nvPr/>
        </p:nvSpPr>
        <p:spPr>
          <a:xfrm>
            <a:off x="1097280" y="47274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/>
          </a:p>
        </p:txBody>
      </p:sp>
      <p:sp>
        <p:nvSpPr>
          <p:cNvPr id="578" name="Google Shape;578;p12"/>
          <p:cNvSpPr txBox="1"/>
          <p:nvPr/>
        </p:nvSpPr>
        <p:spPr>
          <a:xfrm>
            <a:off x="2286000" y="470916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ECG arrhythmia detection module (PS3)</a:t>
            </a:r>
            <a:b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X-ray pneumonia classifier (PS4)</a:t>
            </a:r>
            <a:b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Multi-language clinical summaries</a:t>
            </a:r>
            <a:endParaRPr/>
          </a:p>
        </p:txBody>
      </p:sp>
      <p:sp>
        <p:nvSpPr>
          <p:cNvPr id="579" name="Google Shape;579;p12"/>
          <p:cNvSpPr/>
          <p:nvPr/>
        </p:nvSpPr>
        <p:spPr>
          <a:xfrm>
            <a:off x="1097280" y="5394960"/>
            <a:ext cx="914400" cy="32004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2"/>
          <p:cNvSpPr txBox="1"/>
          <p:nvPr/>
        </p:nvSpPr>
        <p:spPr>
          <a:xfrm>
            <a:off x="1097280" y="54132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</a:t>
            </a:r>
            <a:endParaRPr/>
          </a:p>
        </p:txBody>
      </p:sp>
      <p:sp>
        <p:nvSpPr>
          <p:cNvPr id="581" name="Google Shape;581;p12"/>
          <p:cNvSpPr txBox="1"/>
          <p:nvPr/>
        </p:nvSpPr>
        <p:spPr>
          <a:xfrm>
            <a:off x="2286000" y="539496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Federated learning across hospitals (privacy preserved)</a:t>
            </a:r>
            <a:b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Mobile app for point-of-care (edge deployment)</a:t>
            </a:r>
            <a:b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EHR integration (HL7 FHIR compliant)</a:t>
            </a:r>
            <a:endParaRPr/>
          </a:p>
        </p:txBody>
      </p:sp>
      <p:sp>
        <p:nvSpPr>
          <p:cNvPr id="582" name="Google Shape;582;p12"/>
          <p:cNvSpPr/>
          <p:nvPr/>
        </p:nvSpPr>
        <p:spPr>
          <a:xfrm>
            <a:off x="1097280" y="6080760"/>
            <a:ext cx="914400" cy="320040"/>
          </a:xfrm>
          <a:prstGeom prst="roundRect">
            <a:avLst>
              <a:gd name="adj" fmla="val 15000"/>
            </a:avLst>
          </a:prstGeom>
          <a:solidFill>
            <a:srgbClr val="F43F5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2"/>
          <p:cNvSpPr txBox="1"/>
          <p:nvPr/>
        </p:nvSpPr>
        <p:spPr>
          <a:xfrm>
            <a:off x="1097280" y="60990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VISION</a:t>
            </a:r>
            <a:endParaRPr/>
          </a:p>
        </p:txBody>
      </p:sp>
      <p:sp>
        <p:nvSpPr>
          <p:cNvPr id="584" name="Google Shape;584;p12"/>
          <p:cNvSpPr txBox="1"/>
          <p:nvPr/>
        </p:nvSpPr>
        <p:spPr>
          <a:xfrm>
            <a:off x="2286000" y="608076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 single AI co-pilot for every ICU and clinic in India,</a:t>
            </a:r>
            <a:b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running entirely on local hardware, saving lives 24/7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3"/>
          <p:cNvSpPr txBox="1"/>
          <p:nvPr/>
        </p:nvSpPr>
        <p:spPr>
          <a:xfrm>
            <a:off x="1371600" y="13716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b="0" i="0" u="none" strike="noStrike" cap="non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🛡</a:t>
            </a:r>
            <a:endParaRPr/>
          </a:p>
        </p:txBody>
      </p:sp>
      <p:sp>
        <p:nvSpPr>
          <p:cNvPr id="591" name="Google Shape;591;p13"/>
          <p:cNvSpPr/>
          <p:nvPr/>
        </p:nvSpPr>
        <p:spPr>
          <a:xfrm>
            <a:off x="1371600" y="2377440"/>
            <a:ext cx="2286000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3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SENTINAL</a:t>
            </a:r>
            <a:endParaRPr/>
          </a:p>
        </p:txBody>
      </p:sp>
      <p:sp>
        <p:nvSpPr>
          <p:cNvPr id="593" name="Google Shape;593;p13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Unified Clinical AI. Privacy-First. Edge-Deployed.</a:t>
            </a:r>
            <a:endParaRPr/>
          </a:p>
        </p:txBody>
      </p:sp>
      <p:sp>
        <p:nvSpPr>
          <p:cNvPr id="594" name="Google Shape;594;p13"/>
          <p:cNvSpPr/>
          <p:nvPr/>
        </p:nvSpPr>
        <p:spPr>
          <a:xfrm>
            <a:off x="1371600" y="4389120"/>
            <a:ext cx="1828800" cy="411480"/>
          </a:xfrm>
          <a:prstGeom prst="roundRect">
            <a:avLst>
              <a:gd name="adj" fmla="val 15000"/>
            </a:avLst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3"/>
          <p:cNvSpPr txBox="1"/>
          <p:nvPr/>
        </p:nvSpPr>
        <p:spPr>
          <a:xfrm>
            <a:off x="1371600" y="440740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AI Modules</a:t>
            </a:r>
            <a:endParaRPr/>
          </a:p>
        </p:txBody>
      </p:sp>
      <p:sp>
        <p:nvSpPr>
          <p:cNvPr id="596" name="Google Shape;596;p13"/>
          <p:cNvSpPr/>
          <p:nvPr/>
        </p:nvSpPr>
        <p:spPr>
          <a:xfrm>
            <a:off x="3383280" y="4389120"/>
            <a:ext cx="1828800" cy="41148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3"/>
          <p:cNvSpPr txBox="1"/>
          <p:nvPr/>
        </p:nvSpPr>
        <p:spPr>
          <a:xfrm>
            <a:off x="3383280" y="440740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AUROC up to 0.996</a:t>
            </a:r>
            <a:endParaRPr/>
          </a:p>
        </p:txBody>
      </p:sp>
      <p:sp>
        <p:nvSpPr>
          <p:cNvPr id="598" name="Google Shape;598;p13"/>
          <p:cNvSpPr/>
          <p:nvPr/>
        </p:nvSpPr>
        <p:spPr>
          <a:xfrm>
            <a:off x="5394960" y="4389120"/>
            <a:ext cx="1828800" cy="41148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3"/>
          <p:cNvSpPr txBox="1"/>
          <p:nvPr/>
        </p:nvSpPr>
        <p:spPr>
          <a:xfrm>
            <a:off x="5394960" y="440740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 Local</a:t>
            </a:r>
            <a:endParaRPr/>
          </a:p>
        </p:txBody>
      </p:sp>
      <p:sp>
        <p:nvSpPr>
          <p:cNvPr id="600" name="Google Shape;600;p13"/>
          <p:cNvSpPr/>
          <p:nvPr/>
        </p:nvSpPr>
        <p:spPr>
          <a:xfrm>
            <a:off x="7406640" y="4389120"/>
            <a:ext cx="1828800" cy="41148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3"/>
          <p:cNvSpPr txBox="1"/>
          <p:nvPr/>
        </p:nvSpPr>
        <p:spPr>
          <a:xfrm>
            <a:off x="7406640" y="440740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 Cloud Data</a:t>
            </a:r>
            <a:endParaRPr/>
          </a:p>
        </p:txBody>
      </p:sp>
      <p:sp>
        <p:nvSpPr>
          <p:cNvPr id="602" name="Google Shape;602;p13"/>
          <p:cNvSpPr/>
          <p:nvPr/>
        </p:nvSpPr>
        <p:spPr>
          <a:xfrm>
            <a:off x="9418320" y="4389120"/>
            <a:ext cx="1828800" cy="411480"/>
          </a:xfrm>
          <a:prstGeom prst="roundRect">
            <a:avLst>
              <a:gd name="adj" fmla="val 15000"/>
            </a:avLst>
          </a:prstGeom>
          <a:solidFill>
            <a:srgbClr val="F43F5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3"/>
          <p:cNvSpPr txBox="1"/>
          <p:nvPr/>
        </p:nvSpPr>
        <p:spPr>
          <a:xfrm>
            <a:off x="9418320" y="440740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 2s Inference</a:t>
            </a:r>
            <a:endParaRPr/>
          </a:p>
        </p:txBody>
      </p:sp>
      <p:sp>
        <p:nvSpPr>
          <p:cNvPr id="604" name="Google Shape;604;p13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  •  Questions?</a:t>
            </a:r>
            <a:endParaRPr/>
          </a:p>
        </p:txBody>
      </p:sp>
      <p:sp>
        <p:nvSpPr>
          <p:cNvPr id="605" name="Google Shape;605;p13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github.com/sentinal  •  Built with PyTorch + Streamlit + Ollama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1849</Words>
  <Application>Microsoft Office PowerPoint</Application>
  <PresentationFormat>Widescreen</PresentationFormat>
  <Paragraphs>356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Yash Nagrale</cp:lastModifiedBy>
  <cp:revision>1</cp:revision>
  <dcterms:created xsi:type="dcterms:W3CDTF">2013-01-27T09:14:16Z</dcterms:created>
  <dcterms:modified xsi:type="dcterms:W3CDTF">2026-04-03T19:13:56Z</dcterms:modified>
</cp:coreProperties>
</file>